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119350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58" y="-29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108000"/>
            <a:ext cx="1877437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Calibri"/>
              </a:rPr>
              <a:t>TaxoTox — Architectural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13999"/>
            <a:ext cx="4826962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646464"/>
                </a:solidFill>
                <a:latin typeface="Calibri"/>
              </a:rPr>
              <a:t>Mixture Toxicity Assessment of Aquatic Pollutant Assemblages using the Toxic Unit (TU)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45599" y="1152469"/>
            <a:ext cx="4076480" cy="5040000"/>
          </a:xfrm>
          <a:prstGeom prst="rect">
            <a:avLst/>
          </a:prstGeom>
          <a:solidFill>
            <a:srgbClr val="DCE8F5">
              <a:alpha val="35000"/>
            </a:srgbClr>
          </a:solidFill>
          <a:ln w="20320">
            <a:solidFill>
              <a:srgbClr val="5B8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900"/>
          </a:p>
        </p:txBody>
      </p:sp>
      <p:sp>
        <p:nvSpPr>
          <p:cNvPr id="5" name="Rectangle 4"/>
          <p:cNvSpPr/>
          <p:nvPr/>
        </p:nvSpPr>
        <p:spPr>
          <a:xfrm>
            <a:off x="4791496" y="1134660"/>
            <a:ext cx="3823457" cy="5040000"/>
          </a:xfrm>
          <a:prstGeom prst="rect">
            <a:avLst/>
          </a:prstGeom>
          <a:solidFill>
            <a:srgbClr val="DCF5E4">
              <a:alpha val="25000"/>
            </a:srgbClr>
          </a:solidFill>
          <a:ln w="20320">
            <a:solidFill>
              <a:srgbClr val="3C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900"/>
          </a:p>
        </p:txBody>
      </p:sp>
      <p:sp>
        <p:nvSpPr>
          <p:cNvPr id="6" name="Rectangle 5"/>
          <p:cNvSpPr/>
          <p:nvPr/>
        </p:nvSpPr>
        <p:spPr>
          <a:xfrm>
            <a:off x="5337788" y="6942174"/>
            <a:ext cx="3327831" cy="2004605"/>
          </a:xfrm>
          <a:prstGeom prst="rect">
            <a:avLst/>
          </a:prstGeom>
          <a:solidFill>
            <a:srgbClr val="F0F0F5">
              <a:alpha val="18000"/>
            </a:srgbClr>
          </a:solidFill>
          <a:ln w="17780">
            <a:solidFill>
              <a:srgbClr val="8282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900"/>
          </a:p>
        </p:txBody>
      </p:sp>
      <p:sp>
        <p:nvSpPr>
          <p:cNvPr id="7" name="Rectangle 6"/>
          <p:cNvSpPr/>
          <p:nvPr/>
        </p:nvSpPr>
        <p:spPr>
          <a:xfrm>
            <a:off x="5404209" y="7185418"/>
            <a:ext cx="1008000" cy="1668599"/>
          </a:xfrm>
          <a:prstGeom prst="rect">
            <a:avLst/>
          </a:prstGeom>
          <a:solidFill>
            <a:srgbClr val="B4E6A0">
              <a:alpha val="30000"/>
            </a:srgbClr>
          </a:solidFill>
          <a:ln w="15240">
            <a:solidFill>
              <a:srgbClr val="3C9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900"/>
          </a:p>
        </p:txBody>
      </p:sp>
      <p:sp>
        <p:nvSpPr>
          <p:cNvPr id="8" name="Rectangle 7"/>
          <p:cNvSpPr/>
          <p:nvPr/>
        </p:nvSpPr>
        <p:spPr>
          <a:xfrm>
            <a:off x="6483188" y="7185418"/>
            <a:ext cx="1008000" cy="1668599"/>
          </a:xfrm>
          <a:prstGeom prst="rect">
            <a:avLst/>
          </a:prstGeom>
          <a:solidFill>
            <a:srgbClr val="FFD79B">
              <a:alpha val="30000"/>
            </a:srgbClr>
          </a:solidFill>
          <a:ln w="15240">
            <a:solidFill>
              <a:srgbClr val="D2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900"/>
          </a:p>
        </p:txBody>
      </p:sp>
      <p:sp>
        <p:nvSpPr>
          <p:cNvPr id="9" name="Rectangle 8"/>
          <p:cNvSpPr/>
          <p:nvPr/>
        </p:nvSpPr>
        <p:spPr>
          <a:xfrm>
            <a:off x="7585029" y="7185418"/>
            <a:ext cx="1008000" cy="1668599"/>
          </a:xfrm>
          <a:prstGeom prst="rect">
            <a:avLst/>
          </a:prstGeom>
          <a:solidFill>
            <a:srgbClr val="B4D7FA">
              <a:alpha val="30000"/>
            </a:srgbClr>
          </a:solidFill>
          <a:ln w="15240">
            <a:solidFill>
              <a:srgbClr val="32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900"/>
          </a:p>
        </p:txBody>
      </p:sp>
      <p:sp>
        <p:nvSpPr>
          <p:cNvPr id="10" name="Rectangle 9"/>
          <p:cNvSpPr/>
          <p:nvPr/>
        </p:nvSpPr>
        <p:spPr>
          <a:xfrm>
            <a:off x="3508988" y="9119278"/>
            <a:ext cx="3327831" cy="1143889"/>
          </a:xfrm>
          <a:prstGeom prst="rect">
            <a:avLst/>
          </a:prstGeom>
          <a:solidFill>
            <a:srgbClr val="FFE6E6">
              <a:alpha val="25000"/>
            </a:srgbClr>
          </a:solidFill>
          <a:ln w="1778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361798" y="1224060"/>
            <a:ext cx="3071401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rgbClr val="5B82B9"/>
                </a:solidFill>
                <a:latin typeface="Calibri"/>
              </a:rPr>
              <a:t>Installation and upgrade (run once, refresh quarterly)</a:t>
            </a:r>
            <a:endParaRPr sz="900" b="1" dirty="0">
              <a:solidFill>
                <a:srgbClr val="5B82B9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64900" y="1133193"/>
            <a:ext cx="3223800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3CA05A"/>
                </a:solidFill>
                <a:latin typeface="Calibri"/>
              </a:rPr>
              <a:t>ONLINE SESSION PHASE   (interactive Shiny app)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5420" y="6932813"/>
            <a:ext cx="2079900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8282A0"/>
                </a:solidFill>
                <a:latin typeface="Calibri"/>
              </a:rPr>
              <a:t>PARALLEL TAXONOMIC COMPUTATION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3893" y="9119279"/>
            <a:ext cx="915635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900" b="1" dirty="0">
                <a:solidFill>
                  <a:srgbClr val="C83C3C"/>
                </a:solidFill>
                <a:latin typeface="Calibri"/>
              </a:rPr>
              <a:t>OUTPUT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5999" y="1732320"/>
            <a:ext cx="1584000" cy="432000"/>
          </a:xfrm>
          <a:prstGeom prst="roundRect">
            <a:avLst/>
          </a:prstGeom>
          <a:solidFill>
            <a:srgbClr val="F0F0F5"/>
          </a:solidFill>
          <a:ln w="13970">
            <a:solidFill>
              <a:srgbClr val="82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dirty="0">
                <a:solidFill>
                  <a:srgbClr val="000000"/>
                </a:solidFill>
                <a:latin typeface="Calibri"/>
              </a:rPr>
              <a:t>Use </a:t>
            </a:r>
            <a:r>
              <a:rPr sz="900" b="1" i="0" dirty="0" err="1">
                <a:solidFill>
                  <a:srgbClr val="000000"/>
                </a:solidFill>
                <a:latin typeface="Calibri"/>
              </a:rPr>
              <a:t>ecotoxR</a:t>
            </a:r>
            <a:r>
              <a:rPr sz="900" b="1" i="0" dirty="0">
                <a:solidFill>
                  <a:srgbClr val="000000"/>
                </a:solidFill>
                <a:latin typeface="Calibri"/>
              </a:rPr>
              <a:t> to update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SQLite EPA/ECOTOX database</a:t>
            </a:r>
          </a:p>
        </p:txBody>
      </p:sp>
      <p:sp>
        <p:nvSpPr>
          <p:cNvPr id="16" name="Can 15"/>
          <p:cNvSpPr/>
          <p:nvPr/>
        </p:nvSpPr>
        <p:spPr>
          <a:xfrm>
            <a:off x="395999" y="2286719"/>
            <a:ext cx="1584000" cy="684000"/>
          </a:xfrm>
          <a:prstGeom prst="can">
            <a:avLst/>
          </a:prstGeom>
          <a:solidFill>
            <a:srgbClr val="EBE1FF"/>
          </a:solidFill>
          <a:ln w="13970">
            <a:solidFill>
              <a:srgbClr val="78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0" i="0" dirty="0" err="1">
                <a:solidFill>
                  <a:srgbClr val="000000"/>
                </a:solidFill>
                <a:latin typeface="Calibri"/>
              </a:rPr>
              <a:t>Ecotox</a:t>
            </a:r>
            <a:r>
              <a:rPr lang="en-US" sz="9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alibri"/>
              </a:rPr>
              <a:t>Sqlite</a:t>
            </a:r>
            <a:endParaRPr sz="900" b="0" i="0" dirty="0">
              <a:solidFill>
                <a:srgbClr val="000000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LC₅₀ / EC₅₀</a:t>
            </a:r>
            <a:r>
              <a:rPr lang="en-US" sz="900" b="0" i="0" dirty="0">
                <a:solidFill>
                  <a:srgbClr val="000000"/>
                </a:solidFill>
                <a:latin typeface="Calibri"/>
              </a:rPr>
              <a:t> + EC</a:t>
            </a:r>
            <a:r>
              <a:rPr lang="en-US" sz="900" b="0" i="0" baseline="-25000" dirty="0">
                <a:solidFill>
                  <a:srgbClr val="000000"/>
                </a:solidFill>
                <a:latin typeface="Calibri"/>
              </a:rPr>
              <a:t>5</a:t>
            </a:r>
            <a:r>
              <a:rPr lang="en-US" sz="900" b="0" i="0" dirty="0">
                <a:solidFill>
                  <a:srgbClr val="000000"/>
                </a:solidFill>
                <a:latin typeface="Calibri"/>
              </a:rPr>
              <a:t> + API</a:t>
            </a:r>
            <a:endParaRPr sz="900" b="0" i="0" baseline="-2500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95999" y="3126599"/>
            <a:ext cx="1584000" cy="468000"/>
          </a:xfrm>
          <a:prstGeom prst="roundRect">
            <a:avLst/>
          </a:prstGeom>
          <a:solidFill>
            <a:srgbClr val="F0F0F5"/>
          </a:solidFill>
          <a:ln w="13970">
            <a:solidFill>
              <a:srgbClr val="82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SQL extraction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(fish, algae, crustacean)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" y="3748320"/>
            <a:ext cx="1655999" cy="695465"/>
          </a:xfrm>
          <a:prstGeom prst="roundRect">
            <a:avLst/>
          </a:prstGeom>
          <a:solidFill>
            <a:srgbClr val="F0F0F5"/>
          </a:solidFill>
          <a:ln w="13970">
            <a:solidFill>
              <a:srgbClr val="82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dirty="0">
                <a:solidFill>
                  <a:srgbClr val="000000"/>
                </a:solidFill>
                <a:latin typeface="Calibri"/>
              </a:rPr>
              <a:t>Unit </a:t>
            </a:r>
            <a:r>
              <a:rPr sz="900" b="1" i="0" dirty="0" err="1">
                <a:solidFill>
                  <a:srgbClr val="000000"/>
                </a:solidFill>
                <a:latin typeface="Calibri"/>
              </a:rPr>
              <a:t>Normalisation</a:t>
            </a:r>
            <a:endParaRPr sz="900" b="1" i="0" dirty="0">
              <a:solidFill>
                <a:srgbClr val="000000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ng L⁻¹   </a:t>
            </a:r>
            <a:r>
              <a:rPr sz="900" b="0" i="0" dirty="0" err="1">
                <a:solidFill>
                  <a:srgbClr val="000000"/>
                </a:solidFill>
                <a:latin typeface="Calibri"/>
              </a:rPr>
              <a:t>μg</a:t>
            </a:r>
            <a:r>
              <a:rPr sz="900" b="0" i="0" dirty="0">
                <a:solidFill>
                  <a:srgbClr val="000000"/>
                </a:solidFill>
                <a:latin typeface="Calibri"/>
              </a:rPr>
              <a:t> L⁻¹   mg L⁻¹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↘  ↓  ↙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ng L⁻¹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 dirty="0">
                <a:solidFill>
                  <a:srgbClr val="000000"/>
                </a:solidFill>
                <a:latin typeface="Calibri"/>
              </a:rPr>
              <a:t>back-transform (log)LC₅₀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5999" y="4603811"/>
            <a:ext cx="1584000" cy="627139"/>
          </a:xfrm>
          <a:prstGeom prst="roundRect">
            <a:avLst/>
          </a:prstGeom>
          <a:solidFill>
            <a:srgbClr val="F0F0F5"/>
          </a:solidFill>
          <a:ln w="13970">
            <a:solidFill>
              <a:srgbClr val="82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dirty="0">
                <a:solidFill>
                  <a:srgbClr val="000000"/>
                </a:solidFill>
                <a:latin typeface="Calibri"/>
              </a:rPr>
              <a:t>Calculate Medians</a:t>
            </a:r>
            <a:r>
              <a:rPr lang="en-US" sz="900" b="1" i="0" dirty="0">
                <a:solidFill>
                  <a:srgbClr val="000000"/>
                </a:solidFill>
                <a:latin typeface="Calibri"/>
              </a:rPr>
              <a:t> and HC</a:t>
            </a:r>
            <a:r>
              <a:rPr lang="en-US" sz="900" b="1" baseline="-25000" dirty="0">
                <a:solidFill>
                  <a:srgbClr val="000000"/>
                </a:solidFill>
                <a:latin typeface="Calibri"/>
              </a:rPr>
              <a:t>5</a:t>
            </a:r>
            <a:endParaRPr sz="900" b="1" i="0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900" b="0" i="0" dirty="0">
                <a:solidFill>
                  <a:srgbClr val="000000"/>
                </a:solidFill>
                <a:latin typeface="Calibri"/>
              </a:rPr>
              <a:t>per taxon and pollutant</a:t>
            </a:r>
            <a:r>
              <a:rPr lang="en-US" sz="900" dirty="0">
                <a:solidFill>
                  <a:srgbClr val="000000"/>
                </a:solidFill>
              </a:rPr>
              <a:t> </a:t>
            </a:r>
          </a:p>
          <a:p>
            <a:pPr algn="ctr"/>
            <a:r>
              <a:rPr lang="en-US" sz="900" dirty="0">
                <a:solidFill>
                  <a:srgbClr val="000000"/>
                </a:solidFill>
                <a:latin typeface="Calibri"/>
              </a:rPr>
              <a:t>GAP filling using EPA OPERA QSAR model</a:t>
            </a:r>
            <a:endParaRPr sz="900" b="0" i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Can 19"/>
          <p:cNvSpPr/>
          <p:nvPr/>
        </p:nvSpPr>
        <p:spPr>
          <a:xfrm>
            <a:off x="539999" y="5406660"/>
            <a:ext cx="1296000" cy="684000"/>
          </a:xfrm>
          <a:prstGeom prst="can">
            <a:avLst/>
          </a:prstGeom>
          <a:solidFill>
            <a:srgbClr val="EBE1FF"/>
          </a:solidFill>
          <a:ln w="13970">
            <a:solidFill>
              <a:srgbClr val="78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i="0" dirty="0">
                <a:solidFill>
                  <a:srgbClr val="000000"/>
                </a:solidFill>
                <a:latin typeface="Calibri"/>
              </a:rPr>
              <a:t>F</a:t>
            </a:r>
            <a:r>
              <a:rPr sz="900" b="1" i="0" dirty="0">
                <a:solidFill>
                  <a:srgbClr val="000000"/>
                </a:solidFill>
                <a:latin typeface="Calibri"/>
              </a:rPr>
              <a:t>inal</a:t>
            </a:r>
            <a:r>
              <a:rPr lang="en-US" sz="900" b="1" i="0" dirty="0">
                <a:solidFill>
                  <a:srgbClr val="000000"/>
                </a:solidFill>
                <a:latin typeface="Calibri"/>
              </a:rPr>
              <a:t> reference</a:t>
            </a:r>
            <a:r>
              <a:rPr lang="en-US" sz="900" b="1" dirty="0">
                <a:solidFill>
                  <a:srgbClr val="000000"/>
                </a:solidFill>
                <a:latin typeface="Calibri"/>
              </a:rPr>
              <a:t> </a:t>
            </a:r>
            <a:r>
              <a:rPr sz="900" b="1" i="0" dirty="0">
                <a:solidFill>
                  <a:srgbClr val="000000"/>
                </a:solidFill>
                <a:latin typeface="Calibri"/>
              </a:rPr>
              <a:t>data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5055000" y="1386660"/>
            <a:ext cx="1584000" cy="468000"/>
          </a:xfrm>
          <a:prstGeom prst="parallelogram">
            <a:avLst/>
          </a:prstGeom>
          <a:solidFill>
            <a:srgbClr val="FFF5C8"/>
          </a:solidFill>
          <a:ln w="13970">
            <a:solidFill>
              <a:srgbClr val="D2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Calibri"/>
              </a:rPr>
              <a:t>User Uploads File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alibri"/>
              </a:rPr>
              <a:t>CSV / XLSX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alibri"/>
              </a:rPr>
              <a:t>Units: ng L⁻¹</a:t>
            </a:r>
          </a:p>
        </p:txBody>
      </p:sp>
      <p:sp>
        <p:nvSpPr>
          <p:cNvPr id="22" name="Diamond 21"/>
          <p:cNvSpPr/>
          <p:nvPr/>
        </p:nvSpPr>
        <p:spPr>
          <a:xfrm>
            <a:off x="5271000" y="1998659"/>
            <a:ext cx="1152000" cy="540000"/>
          </a:xfrm>
          <a:prstGeom prst="diamond">
            <a:avLst/>
          </a:prstGeom>
          <a:solidFill>
            <a:srgbClr val="F0F0F5"/>
          </a:solidFill>
          <a:ln w="13970">
            <a:solidFill>
              <a:srgbClr val="82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alibri"/>
              </a:rPr>
              <a:t>Data
orientation?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9360" y="2016659"/>
            <a:ext cx="1296000" cy="503999"/>
          </a:xfrm>
          <a:prstGeom prst="roundRect">
            <a:avLst/>
          </a:prstGeom>
          <a:solidFill>
            <a:srgbClr val="F0F0F5"/>
          </a:solidFill>
          <a:ln w="13970">
            <a:solidFill>
              <a:srgbClr val="82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Calibri"/>
              </a:rPr>
              <a:t>Transpose matrix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alibri"/>
              </a:rPr>
              <a:t>(row layout →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alibri"/>
              </a:rPr>
              <a:t>canonical layout)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12276" y="2767320"/>
            <a:ext cx="1485204" cy="432000"/>
          </a:xfrm>
          <a:prstGeom prst="roundRect">
            <a:avLst/>
          </a:prstGeom>
          <a:solidFill>
            <a:srgbClr val="F0F0F5"/>
          </a:solidFill>
          <a:ln w="13970">
            <a:solidFill>
              <a:srgbClr val="82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Calibri"/>
              </a:rPr>
              <a:t>Tidy &amp; 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alibri"/>
              </a:rPr>
              <a:t>Parse numeric values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91000" y="3403601"/>
            <a:ext cx="1512000" cy="432000"/>
          </a:xfrm>
          <a:prstGeom prst="roundRect">
            <a:avLst/>
          </a:prstGeom>
          <a:solidFill>
            <a:srgbClr val="F0F0F5"/>
          </a:solidFill>
          <a:ln w="13970">
            <a:solidFill>
              <a:srgbClr val="82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i="0" dirty="0">
                <a:solidFill>
                  <a:srgbClr val="000000"/>
                </a:solidFill>
                <a:latin typeface="Calibri"/>
              </a:rPr>
              <a:t>M</a:t>
            </a:r>
            <a:r>
              <a:rPr sz="900" b="1" i="0" dirty="0">
                <a:solidFill>
                  <a:srgbClr val="000000"/>
                </a:solidFill>
                <a:latin typeface="Calibri"/>
              </a:rPr>
              <a:t>atch</a:t>
            </a:r>
            <a:r>
              <a:rPr lang="en-US" sz="900" b="1" i="0" dirty="0">
                <a:solidFill>
                  <a:srgbClr val="000000"/>
                </a:solidFill>
                <a:latin typeface="Calibri"/>
              </a:rPr>
              <a:t> internal CASRNs table</a:t>
            </a:r>
            <a:endParaRPr sz="900" b="1" i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Can 25"/>
          <p:cNvSpPr/>
          <p:nvPr/>
        </p:nvSpPr>
        <p:spPr>
          <a:xfrm>
            <a:off x="7146600" y="3253080"/>
            <a:ext cx="1224000" cy="684000"/>
          </a:xfrm>
          <a:prstGeom prst="can">
            <a:avLst/>
          </a:prstGeom>
          <a:solidFill>
            <a:srgbClr val="EBE1FF"/>
          </a:solidFill>
          <a:ln w="13970">
            <a:solidFill>
              <a:srgbClr val="78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i="0" dirty="0">
                <a:solidFill>
                  <a:srgbClr val="000000"/>
                </a:solidFill>
                <a:latin typeface="Calibri"/>
              </a:rPr>
              <a:t>Internal CASRNs table</a:t>
            </a:r>
            <a:endParaRPr sz="900" b="1" i="0" dirty="0">
              <a:solidFill>
                <a:srgbClr val="000000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CASRN lookup</a:t>
            </a:r>
          </a:p>
        </p:txBody>
      </p:sp>
      <p:sp>
        <p:nvSpPr>
          <p:cNvPr id="27" name="Diamond 26"/>
          <p:cNvSpPr/>
          <p:nvPr/>
        </p:nvSpPr>
        <p:spPr>
          <a:xfrm>
            <a:off x="5263380" y="4048888"/>
            <a:ext cx="1152000" cy="540000"/>
          </a:xfrm>
          <a:prstGeom prst="diamond">
            <a:avLst/>
          </a:prstGeom>
          <a:solidFill>
            <a:srgbClr val="F0F0F5"/>
          </a:solidFill>
          <a:ln w="13970">
            <a:solidFill>
              <a:srgbClr val="82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All
resolved?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17400" y="4055845"/>
            <a:ext cx="1440000" cy="463783"/>
          </a:xfrm>
          <a:prstGeom prst="roundRect">
            <a:avLst/>
          </a:prstGeom>
          <a:solidFill>
            <a:srgbClr val="F0F0F5"/>
          </a:solidFill>
          <a:ln w="13970">
            <a:solidFill>
              <a:srgbClr val="82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br>
              <a:rPr lang="en-US" sz="900" b="1" i="0" dirty="0">
                <a:solidFill>
                  <a:srgbClr val="000000"/>
                </a:solidFill>
                <a:latin typeface="Calibri"/>
              </a:rPr>
            </a:br>
            <a:r>
              <a:rPr sz="900" b="1" i="0" dirty="0">
                <a:solidFill>
                  <a:srgbClr val="000000"/>
                </a:solidFill>
                <a:latin typeface="Calibri"/>
              </a:rPr>
              <a:t>Layer 2 (Optional)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PubChem REST API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via </a:t>
            </a:r>
            <a:r>
              <a:rPr sz="900" b="0" i="0" dirty="0" err="1">
                <a:solidFill>
                  <a:srgbClr val="000000"/>
                </a:solidFill>
                <a:latin typeface="Calibri"/>
              </a:rPr>
              <a:t>webchem</a:t>
            </a:r>
            <a:endParaRPr sz="900" b="0" i="0" dirty="0">
              <a:solidFill>
                <a:srgbClr val="000000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sz="900" b="0" i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Diamond 28"/>
          <p:cNvSpPr/>
          <p:nvPr/>
        </p:nvSpPr>
        <p:spPr>
          <a:xfrm>
            <a:off x="6761400" y="4718111"/>
            <a:ext cx="1152000" cy="540000"/>
          </a:xfrm>
          <a:prstGeom prst="diamond">
            <a:avLst/>
          </a:prstGeom>
          <a:solidFill>
            <a:srgbClr val="F0F0F5"/>
          </a:solidFill>
          <a:ln w="13970">
            <a:solidFill>
              <a:srgbClr val="8282A0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alibri"/>
              </a:rPr>
              <a:t>All
resolved?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71693" y="4810680"/>
            <a:ext cx="1265324" cy="432000"/>
          </a:xfrm>
          <a:prstGeom prst="roundRect">
            <a:avLst/>
          </a:prstGeom>
          <a:solidFill>
            <a:srgbClr val="F0F0F5"/>
          </a:solidFill>
          <a:ln w="13970">
            <a:solidFill>
              <a:srgbClr val="82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dirty="0">
                <a:solidFill>
                  <a:srgbClr val="000000"/>
                </a:solidFill>
                <a:latin typeface="Calibri"/>
              </a:rPr>
              <a:t>Merge CASRNs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with concentration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79768" y="5394875"/>
            <a:ext cx="885509" cy="385238"/>
          </a:xfrm>
          <a:prstGeom prst="roundRect">
            <a:avLst/>
          </a:prstGeom>
          <a:solidFill>
            <a:srgbClr val="F0F0F5"/>
          </a:solidFill>
          <a:ln w="13970">
            <a:solidFill>
              <a:srgbClr val="82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dirty="0">
                <a:solidFill>
                  <a:srgbClr val="000000"/>
                </a:solidFill>
                <a:latin typeface="Calibri"/>
              </a:rPr>
              <a:t>Manual CASRN Entry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58399" y="7199467"/>
            <a:ext cx="900000" cy="792000"/>
          </a:xfrm>
          <a:prstGeom prst="roundRect">
            <a:avLst/>
          </a:prstGeom>
          <a:solidFill>
            <a:srgbClr val="B4E6A0"/>
          </a:solidFill>
          <a:ln w="13970">
            <a:solidFill>
              <a:srgbClr val="3C9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dirty="0">
                <a:solidFill>
                  <a:srgbClr val="1E6E14"/>
                </a:solidFill>
                <a:latin typeface="Calibri"/>
              </a:rPr>
              <a:t>Algae TU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TUᵢⱼ = Cᵢⱼ / LC̃₅₀,ᵢ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per compound, per station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58399" y="8333468"/>
            <a:ext cx="900000" cy="468000"/>
          </a:xfrm>
          <a:prstGeom prst="roundRect">
            <a:avLst/>
          </a:prstGeom>
          <a:solidFill>
            <a:srgbClr val="B4E6A0"/>
          </a:solidFill>
          <a:ln w="13970">
            <a:solidFill>
              <a:srgbClr val="3C9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6E14"/>
                </a:solidFill>
                <a:latin typeface="Calibri"/>
              </a:rPr>
              <a:t>Algae PTI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alibri"/>
              </a:rPr>
              <a:t>PTIⱼ = Σᵢ TUᵢⱼ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379" y="7199467"/>
            <a:ext cx="900000" cy="792000"/>
          </a:xfrm>
          <a:prstGeom prst="roundRect">
            <a:avLst/>
          </a:prstGeom>
          <a:solidFill>
            <a:srgbClr val="FFD79B"/>
          </a:solidFill>
          <a:ln w="13970">
            <a:solidFill>
              <a:srgbClr val="D2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05000"/>
                </a:solidFill>
                <a:latin typeface="Calibri"/>
              </a:rPr>
              <a:t>Crustacean TU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alibri"/>
              </a:rPr>
              <a:t>TUᵢⱼ = Cᵢⱼ / LC̃₅₀,ᵢ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alibri"/>
              </a:rPr>
              <a:t>per compound, per station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379" y="8333468"/>
            <a:ext cx="900000" cy="468000"/>
          </a:xfrm>
          <a:prstGeom prst="roundRect">
            <a:avLst/>
          </a:prstGeom>
          <a:solidFill>
            <a:srgbClr val="FFD79B"/>
          </a:solidFill>
          <a:ln w="13970">
            <a:solidFill>
              <a:srgbClr val="D2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05000"/>
                </a:solidFill>
                <a:latin typeface="Calibri"/>
              </a:rPr>
              <a:t>Crustacean PTI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alibri"/>
              </a:rPr>
              <a:t>PTIⱼ = Σᵢ TUᵢⱼ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39219" y="7199467"/>
            <a:ext cx="900000" cy="792000"/>
          </a:xfrm>
          <a:prstGeom prst="roundRect">
            <a:avLst/>
          </a:prstGeom>
          <a:solidFill>
            <a:srgbClr val="B4D7FA"/>
          </a:solidFill>
          <a:ln w="13970">
            <a:solidFill>
              <a:srgbClr val="32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dirty="0">
                <a:solidFill>
                  <a:srgbClr val="1446A0"/>
                </a:solidFill>
                <a:latin typeface="Calibri"/>
              </a:rPr>
              <a:t>Fish TU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TUᵢⱼ = Cᵢⱼ / LC̃₅₀,ᵢ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per compound, per station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9219" y="8333468"/>
            <a:ext cx="900000" cy="468000"/>
          </a:xfrm>
          <a:prstGeom prst="roundRect">
            <a:avLst/>
          </a:prstGeom>
          <a:solidFill>
            <a:srgbClr val="B4D7FA"/>
          </a:solidFill>
          <a:ln w="13970">
            <a:solidFill>
              <a:srgbClr val="32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46A0"/>
                </a:solidFill>
                <a:latin typeface="Calibri"/>
              </a:rPr>
              <a:t>Fish PTI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alibri"/>
              </a:rPr>
              <a:t>PTIⱼ = Σᵢ TUᵢⱼ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21420" y="9313680"/>
            <a:ext cx="900000" cy="900000"/>
          </a:xfrm>
          <a:prstGeom prst="roundRect">
            <a:avLst/>
          </a:prstGeom>
          <a:solidFill>
            <a:srgbClr val="FFE6E6"/>
          </a:solidFill>
          <a:ln w="1397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dirty="0">
                <a:solidFill>
                  <a:srgbClr val="C82828"/>
                </a:solidFill>
                <a:latin typeface="Calibri"/>
              </a:rPr>
              <a:t>Interactive Plots</a:t>
            </a:r>
            <a:endParaRPr lang="en-US" sz="900" b="1" i="0" dirty="0">
              <a:solidFill>
                <a:srgbClr val="C82828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0" i="0" dirty="0">
                <a:solidFill>
                  <a:srgbClr val="000000"/>
                </a:solidFill>
                <a:latin typeface="Calibri"/>
              </a:rPr>
              <a:t>Box plots</a:t>
            </a:r>
            <a:endParaRPr sz="900" b="0" i="0" dirty="0">
              <a:solidFill>
                <a:srgbClr val="000000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Per-sample </a:t>
            </a:r>
            <a:endParaRPr lang="en-US" sz="900" b="0" i="0" dirty="0">
              <a:solidFill>
                <a:srgbClr val="000000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Per-pollutant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34960" y="9313200"/>
            <a:ext cx="900000" cy="900000"/>
          </a:xfrm>
          <a:prstGeom prst="roundRect">
            <a:avLst/>
          </a:prstGeom>
          <a:solidFill>
            <a:srgbClr val="FFE6E6"/>
          </a:solidFill>
          <a:ln w="1397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dirty="0">
                <a:solidFill>
                  <a:srgbClr val="C82828"/>
                </a:solidFill>
                <a:latin typeface="Calibri"/>
              </a:rPr>
              <a:t>DT Risk Tables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dirty="0">
                <a:solidFill>
                  <a:srgbClr val="C82828"/>
                </a:solidFill>
                <a:latin typeface="Calibri"/>
              </a:rPr>
              <a:t>Acute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dirty="0">
                <a:solidFill>
                  <a:srgbClr val="D28C00"/>
                </a:solidFill>
                <a:latin typeface="Calibri"/>
              </a:rPr>
              <a:t>Chronic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dirty="0">
                <a:solidFill>
                  <a:srgbClr val="289632"/>
                </a:solidFill>
                <a:latin typeface="Calibri"/>
              </a:rPr>
              <a:t>Low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63740" y="9313678"/>
            <a:ext cx="900000" cy="900000"/>
          </a:xfrm>
          <a:prstGeom prst="roundRect">
            <a:avLst/>
          </a:prstGeom>
          <a:solidFill>
            <a:srgbClr val="FFE6E6"/>
          </a:solidFill>
          <a:ln w="1397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dirty="0">
                <a:solidFill>
                  <a:srgbClr val="C82828"/>
                </a:solidFill>
                <a:latin typeface="Calibri"/>
              </a:rPr>
              <a:t>Excel Export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Original 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0" i="0" dirty="0">
                <a:solidFill>
                  <a:srgbClr val="000000"/>
                </a:solidFill>
                <a:latin typeface="Calibri"/>
              </a:rPr>
              <a:t>Taxon Toxicity index</a:t>
            </a:r>
            <a:endParaRPr sz="900" b="0" i="0" dirty="0">
              <a:solidFill>
                <a:srgbClr val="000000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000000"/>
                </a:solidFill>
                <a:latin typeface="Calibri"/>
              </a:rPr>
              <a:t>CASRN</a:t>
            </a:r>
            <a:r>
              <a:rPr lang="en-US" sz="900" b="0" i="0" dirty="0">
                <a:solidFill>
                  <a:srgbClr val="000000"/>
                </a:solidFill>
                <a:latin typeface="Calibri"/>
              </a:rPr>
              <a:t> coverage r</a:t>
            </a:r>
            <a:r>
              <a:rPr sz="900" b="0" i="0" dirty="0">
                <a:solidFill>
                  <a:srgbClr val="000000"/>
                </a:solidFill>
                <a:latin typeface="Calibri"/>
              </a:rPr>
              <a:t>eport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88000" y="2142719"/>
            <a:ext cx="0" cy="178201"/>
          </a:xfrm>
          <a:prstGeom prst="line">
            <a:avLst/>
          </a:prstGeom>
          <a:ln w="15240">
            <a:solidFill>
              <a:srgbClr val="5B82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88000" y="2936520"/>
            <a:ext cx="0" cy="180000"/>
          </a:xfrm>
          <a:prstGeom prst="line">
            <a:avLst/>
          </a:prstGeom>
          <a:ln w="15240">
            <a:solidFill>
              <a:srgbClr val="5B82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88000" y="3586440"/>
            <a:ext cx="0" cy="178200"/>
          </a:xfrm>
          <a:prstGeom prst="line">
            <a:avLst/>
          </a:prstGeom>
          <a:ln w="15240">
            <a:solidFill>
              <a:srgbClr val="5B82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cxnSpLocks/>
            <a:stCxn id="18" idx="2"/>
            <a:endCxn id="19" idx="0"/>
          </p:cNvCxnSpPr>
          <p:nvPr/>
        </p:nvCxnSpPr>
        <p:spPr>
          <a:xfrm flipH="1">
            <a:off x="1187999" y="4443785"/>
            <a:ext cx="1" cy="160026"/>
          </a:xfrm>
          <a:prstGeom prst="line">
            <a:avLst/>
          </a:prstGeom>
          <a:ln w="15240">
            <a:solidFill>
              <a:srgbClr val="5B82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cxnSpLocks/>
            <a:stCxn id="19" idx="2"/>
          </p:cNvCxnSpPr>
          <p:nvPr/>
        </p:nvCxnSpPr>
        <p:spPr>
          <a:xfrm>
            <a:off x="1187999" y="5230950"/>
            <a:ext cx="1" cy="187050"/>
          </a:xfrm>
          <a:prstGeom prst="line">
            <a:avLst/>
          </a:prstGeom>
          <a:ln w="15240">
            <a:solidFill>
              <a:srgbClr val="5B82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847000" y="1831258"/>
            <a:ext cx="0" cy="216000"/>
          </a:xfrm>
          <a:prstGeom prst="line">
            <a:avLst/>
          </a:prstGeom>
          <a:ln w="15240">
            <a:solidFill>
              <a:srgbClr val="3CA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847000" y="2542139"/>
            <a:ext cx="0" cy="216000"/>
          </a:xfrm>
          <a:prstGeom prst="line">
            <a:avLst/>
          </a:prstGeom>
          <a:ln w="15240">
            <a:solidFill>
              <a:srgbClr val="3CA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2598" y="2466161"/>
            <a:ext cx="856325" cy="252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dirty="0">
                <a:solidFill>
                  <a:srgbClr val="000000"/>
                </a:solidFill>
                <a:latin typeface="Calibri"/>
              </a:rPr>
              <a:t>col</a:t>
            </a:r>
            <a:r>
              <a:rPr lang="en-US" sz="900" dirty="0">
                <a:solidFill>
                  <a:srgbClr val="000000"/>
                </a:solidFill>
                <a:latin typeface="Calibri"/>
              </a:rPr>
              <a:t>umn</a:t>
            </a:r>
            <a:r>
              <a:rPr sz="900" dirty="0">
                <a:solidFill>
                  <a:srgbClr val="000000"/>
                </a:solidFill>
                <a:latin typeface="Calibri"/>
              </a:rPr>
              <a:t> layout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403500" y="2268659"/>
            <a:ext cx="291600" cy="0"/>
          </a:xfrm>
          <a:prstGeom prst="line">
            <a:avLst/>
          </a:prstGeom>
          <a:ln w="15240">
            <a:solidFill>
              <a:srgbClr val="3CA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207992" y="1882127"/>
            <a:ext cx="505268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  <a:latin typeface="Calibri"/>
              </a:rPr>
              <a:t>R</a:t>
            </a:r>
            <a:r>
              <a:rPr sz="900" dirty="0">
                <a:solidFill>
                  <a:srgbClr val="000000"/>
                </a:solidFill>
                <a:latin typeface="Calibri"/>
              </a:rPr>
              <a:t>ow</a:t>
            </a:r>
            <a:br>
              <a:rPr lang="en-US" sz="900" dirty="0">
                <a:solidFill>
                  <a:srgbClr val="000000"/>
                </a:solidFill>
                <a:latin typeface="Calibri"/>
              </a:rPr>
            </a:br>
            <a:r>
              <a:rPr sz="900" dirty="0">
                <a:solidFill>
                  <a:srgbClr val="000000"/>
                </a:solidFill>
                <a:latin typeface="Calibri"/>
              </a:rPr>
              <a:t> layout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6599989" y="2529328"/>
            <a:ext cx="684000" cy="388800"/>
          </a:xfrm>
          <a:prstGeom prst="line">
            <a:avLst/>
          </a:prstGeom>
          <a:ln w="15240">
            <a:solidFill>
              <a:srgbClr val="3CA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>
            <a:cxnSpLocks/>
          </p:cNvCxnSpPr>
          <p:nvPr/>
        </p:nvCxnSpPr>
        <p:spPr>
          <a:xfrm>
            <a:off x="5847000" y="3208199"/>
            <a:ext cx="0" cy="216000"/>
          </a:xfrm>
          <a:prstGeom prst="line">
            <a:avLst/>
          </a:prstGeom>
          <a:ln w="15240">
            <a:solidFill>
              <a:srgbClr val="3CA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>
            <a:cxnSpLocks/>
          </p:cNvCxnSpPr>
          <p:nvPr/>
        </p:nvCxnSpPr>
        <p:spPr>
          <a:xfrm>
            <a:off x="5847000" y="3835601"/>
            <a:ext cx="0" cy="216000"/>
          </a:xfrm>
          <a:prstGeom prst="line">
            <a:avLst/>
          </a:prstGeom>
          <a:ln w="15240">
            <a:solidFill>
              <a:srgbClr val="3CA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381729" y="4302438"/>
            <a:ext cx="252000" cy="0"/>
          </a:xfrm>
          <a:prstGeom prst="line">
            <a:avLst/>
          </a:prstGeom>
          <a:ln w="15240">
            <a:solidFill>
              <a:srgbClr val="3CA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>
            <a:cxnSpLocks/>
            <a:endCxn id="29" idx="0"/>
          </p:cNvCxnSpPr>
          <p:nvPr/>
        </p:nvCxnSpPr>
        <p:spPr>
          <a:xfrm>
            <a:off x="7337400" y="4502111"/>
            <a:ext cx="0" cy="216000"/>
          </a:xfrm>
          <a:prstGeom prst="line">
            <a:avLst/>
          </a:prstGeom>
          <a:ln w="15240">
            <a:solidFill>
              <a:srgbClr val="3CA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>
            <a:cxnSpLocks/>
          </p:cNvCxnSpPr>
          <p:nvPr/>
        </p:nvCxnSpPr>
        <p:spPr>
          <a:xfrm>
            <a:off x="5837954" y="4588888"/>
            <a:ext cx="0" cy="216000"/>
          </a:xfrm>
          <a:prstGeom prst="line">
            <a:avLst/>
          </a:prstGeom>
          <a:ln w="15240">
            <a:solidFill>
              <a:srgbClr val="3CA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>
            <a:cxnSpLocks/>
          </p:cNvCxnSpPr>
          <p:nvPr/>
        </p:nvCxnSpPr>
        <p:spPr>
          <a:xfrm>
            <a:off x="7334186" y="5243231"/>
            <a:ext cx="0" cy="171255"/>
          </a:xfrm>
          <a:prstGeom prst="line">
            <a:avLst/>
          </a:prstGeom>
          <a:ln w="15240">
            <a:solidFill>
              <a:srgbClr val="3CA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320606" y="5199575"/>
            <a:ext cx="319318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dirty="0">
                <a:solidFill>
                  <a:srgbClr val="000000"/>
                </a:solidFill>
                <a:latin typeface="Calibri"/>
              </a:rPr>
              <a:t>No</a:t>
            </a:r>
          </a:p>
        </p:txBody>
      </p:sp>
      <p:cxnSp>
        <p:nvCxnSpPr>
          <p:cNvPr id="66" name="Connector 65"/>
          <p:cNvCxnSpPr>
            <a:cxnSpLocks/>
          </p:cNvCxnSpPr>
          <p:nvPr/>
        </p:nvCxnSpPr>
        <p:spPr>
          <a:xfrm flipH="1">
            <a:off x="6424277" y="5018591"/>
            <a:ext cx="360000" cy="0"/>
          </a:xfrm>
          <a:prstGeom prst="line">
            <a:avLst/>
          </a:prstGeom>
          <a:ln w="15240">
            <a:solidFill>
              <a:srgbClr val="3CA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>
            <a:cxnSpLocks/>
          </p:cNvCxnSpPr>
          <p:nvPr/>
        </p:nvCxnSpPr>
        <p:spPr>
          <a:xfrm flipH="1" flipV="1">
            <a:off x="6437017" y="5148600"/>
            <a:ext cx="442751" cy="553194"/>
          </a:xfrm>
          <a:prstGeom prst="line">
            <a:avLst/>
          </a:prstGeom>
          <a:ln w="15240">
            <a:solidFill>
              <a:srgbClr val="3CA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674800" y="7957620"/>
            <a:ext cx="0" cy="405000"/>
          </a:xfrm>
          <a:prstGeom prst="line">
            <a:avLst/>
          </a:prstGeom>
          <a:ln w="15240">
            <a:solidFill>
              <a:srgbClr val="3C9628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753780" y="7957620"/>
            <a:ext cx="0" cy="405000"/>
          </a:xfrm>
          <a:prstGeom prst="line">
            <a:avLst/>
          </a:prstGeom>
          <a:ln w="15240">
            <a:solidFill>
              <a:srgbClr val="D27814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855620" y="7957620"/>
            <a:ext cx="0" cy="405000"/>
          </a:xfrm>
          <a:prstGeom prst="line">
            <a:avLst/>
          </a:prstGeom>
          <a:ln w="15240">
            <a:solidFill>
              <a:srgbClr val="326EC8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784114" y="10494000"/>
            <a:ext cx="4831772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46464"/>
                </a:solidFill>
                <a:latin typeface="Calibri"/>
              </a:rPr>
              <a:t>Gridish N. &amp; Suari Y.  —  School of Marine Sciences, Ruppin Academic Center, Israel  —  MIT License</a:t>
            </a:r>
          </a:p>
        </p:txBody>
      </p:sp>
      <p:sp>
        <p:nvSpPr>
          <p:cNvPr id="107" name="חץ: למטה 106">
            <a:extLst>
              <a:ext uri="{FF2B5EF4-FFF2-40B4-BE49-F238E27FC236}">
                <a16:creationId xmlns:a16="http://schemas.microsoft.com/office/drawing/2014/main" id="{5BA3FD5D-E54D-FA29-7D18-E293EA299979}"/>
              </a:ext>
            </a:extLst>
          </p:cNvPr>
          <p:cNvSpPr/>
          <p:nvPr/>
        </p:nvSpPr>
        <p:spPr>
          <a:xfrm>
            <a:off x="5603965" y="8946779"/>
            <a:ext cx="360455" cy="172500"/>
          </a:xfrm>
          <a:prstGeom prst="downArrow">
            <a:avLst/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48" name="Connector 47"/>
          <p:cNvCxnSpPr>
            <a:cxnSpLocks/>
          </p:cNvCxnSpPr>
          <p:nvPr/>
        </p:nvCxnSpPr>
        <p:spPr>
          <a:xfrm flipH="1">
            <a:off x="6618900" y="3587460"/>
            <a:ext cx="504000" cy="0"/>
          </a:xfrm>
          <a:prstGeom prst="line">
            <a:avLst/>
          </a:prstGeom>
          <a:ln w="15240">
            <a:solidFill>
              <a:srgbClr val="8282A0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14">
            <a:extLst>
              <a:ext uri="{FF2B5EF4-FFF2-40B4-BE49-F238E27FC236}">
                <a16:creationId xmlns:a16="http://schemas.microsoft.com/office/drawing/2014/main" id="{A8373354-EE2C-9231-8C22-01E3A091CABF}"/>
              </a:ext>
            </a:extLst>
          </p:cNvPr>
          <p:cNvSpPr/>
          <p:nvPr/>
        </p:nvSpPr>
        <p:spPr>
          <a:xfrm>
            <a:off x="2148599" y="1732320"/>
            <a:ext cx="2188815" cy="432000"/>
          </a:xfrm>
          <a:prstGeom prst="roundRect">
            <a:avLst/>
          </a:prstGeom>
          <a:solidFill>
            <a:srgbClr val="F0F0F5"/>
          </a:solidFill>
          <a:ln w="13970">
            <a:solidFill>
              <a:srgbClr val="82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i="0" dirty="0">
                <a:solidFill>
                  <a:srgbClr val="000000"/>
                </a:solidFill>
                <a:latin typeface="Calibri"/>
              </a:rPr>
              <a:t>Compound names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Initial sample data / users additional compounds</a:t>
            </a:r>
            <a:endParaRPr sz="900" i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Can 15">
            <a:extLst>
              <a:ext uri="{FF2B5EF4-FFF2-40B4-BE49-F238E27FC236}">
                <a16:creationId xmlns:a16="http://schemas.microsoft.com/office/drawing/2014/main" id="{5AEAC6FA-146D-1FE9-CD81-F9EC53C24D91}"/>
              </a:ext>
            </a:extLst>
          </p:cNvPr>
          <p:cNvSpPr/>
          <p:nvPr/>
        </p:nvSpPr>
        <p:spPr>
          <a:xfrm>
            <a:off x="2159220" y="2380984"/>
            <a:ext cx="873538" cy="616316"/>
          </a:xfrm>
          <a:prstGeom prst="can">
            <a:avLst/>
          </a:prstGeom>
          <a:solidFill>
            <a:srgbClr val="EBE1FF"/>
          </a:solidFill>
          <a:ln w="13970">
            <a:solidFill>
              <a:srgbClr val="78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DSSTOX CASRNs matching</a:t>
            </a:r>
            <a:r>
              <a:rPr lang="en-US" sz="900" b="0" i="0" baseline="-25000" dirty="0">
                <a:solidFill>
                  <a:srgbClr val="000000"/>
                </a:solidFill>
                <a:latin typeface="Calibri"/>
              </a:rPr>
              <a:t> </a:t>
            </a:r>
            <a:endParaRPr sz="900" b="0" i="0" baseline="-2500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Rounded Rectangle 14">
            <a:extLst>
              <a:ext uri="{FF2B5EF4-FFF2-40B4-BE49-F238E27FC236}">
                <a16:creationId xmlns:a16="http://schemas.microsoft.com/office/drawing/2014/main" id="{A53CFD35-17C7-D48A-A4D6-A1CC320B439E}"/>
              </a:ext>
            </a:extLst>
          </p:cNvPr>
          <p:cNvSpPr/>
          <p:nvPr/>
        </p:nvSpPr>
        <p:spPr>
          <a:xfrm>
            <a:off x="3247847" y="2380984"/>
            <a:ext cx="1085936" cy="582113"/>
          </a:xfrm>
          <a:prstGeom prst="roundRect">
            <a:avLst/>
          </a:prstGeom>
          <a:solidFill>
            <a:srgbClr val="F0F0F5"/>
          </a:solidFill>
          <a:ln w="13970">
            <a:solidFill>
              <a:srgbClr val="82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i="0" dirty="0">
                <a:solidFill>
                  <a:srgbClr val="000000"/>
                </a:solidFill>
                <a:latin typeface="Calibri"/>
              </a:rPr>
              <a:t>PubChem REST API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  <a:latin typeface="Calibri"/>
              </a:rPr>
              <a:t>CASRNs matching</a:t>
            </a:r>
            <a:endParaRPr lang="en-US" sz="900" i="0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83" name="Connector 41">
            <a:extLst>
              <a:ext uri="{FF2B5EF4-FFF2-40B4-BE49-F238E27FC236}">
                <a16:creationId xmlns:a16="http://schemas.microsoft.com/office/drawing/2014/main" id="{E0776502-1512-D04E-81D1-5C70EBCAEBD4}"/>
              </a:ext>
            </a:extLst>
          </p:cNvPr>
          <p:cNvCxnSpPr>
            <a:cxnSpLocks/>
            <a:endCxn id="81" idx="1"/>
          </p:cNvCxnSpPr>
          <p:nvPr/>
        </p:nvCxnSpPr>
        <p:spPr>
          <a:xfrm flipH="1">
            <a:off x="2595989" y="2165579"/>
            <a:ext cx="557971" cy="215405"/>
          </a:xfrm>
          <a:prstGeom prst="line">
            <a:avLst/>
          </a:prstGeom>
          <a:ln w="15240">
            <a:solidFill>
              <a:srgbClr val="5B82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41">
            <a:extLst>
              <a:ext uri="{FF2B5EF4-FFF2-40B4-BE49-F238E27FC236}">
                <a16:creationId xmlns:a16="http://schemas.microsoft.com/office/drawing/2014/main" id="{CB4D7E6E-D0AA-9327-8629-15538CDF9A68}"/>
              </a:ext>
            </a:extLst>
          </p:cNvPr>
          <p:cNvCxnSpPr>
            <a:cxnSpLocks/>
            <a:endCxn id="82" idx="0"/>
          </p:cNvCxnSpPr>
          <p:nvPr/>
        </p:nvCxnSpPr>
        <p:spPr>
          <a:xfrm>
            <a:off x="3169200" y="2165579"/>
            <a:ext cx="621615" cy="215405"/>
          </a:xfrm>
          <a:prstGeom prst="line">
            <a:avLst/>
          </a:prstGeom>
          <a:ln w="15240">
            <a:solidFill>
              <a:srgbClr val="5B82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Can 19">
            <a:extLst>
              <a:ext uri="{FF2B5EF4-FFF2-40B4-BE49-F238E27FC236}">
                <a16:creationId xmlns:a16="http://schemas.microsoft.com/office/drawing/2014/main" id="{64D564AA-8F9A-5B52-0897-9DA19FB737BB}"/>
              </a:ext>
            </a:extLst>
          </p:cNvPr>
          <p:cNvSpPr/>
          <p:nvPr/>
        </p:nvSpPr>
        <p:spPr>
          <a:xfrm>
            <a:off x="2589039" y="3321852"/>
            <a:ext cx="1296000" cy="684000"/>
          </a:xfrm>
          <a:prstGeom prst="can">
            <a:avLst/>
          </a:prstGeom>
          <a:solidFill>
            <a:srgbClr val="EBE1FF"/>
          </a:solidFill>
          <a:ln w="13970">
            <a:solidFill>
              <a:srgbClr val="78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000000"/>
                </a:solidFill>
              </a:rPr>
              <a:t>Internal CASRNs table</a:t>
            </a:r>
          </a:p>
        </p:txBody>
      </p:sp>
      <p:cxnSp>
        <p:nvCxnSpPr>
          <p:cNvPr id="88" name="Connector 41">
            <a:extLst>
              <a:ext uri="{FF2B5EF4-FFF2-40B4-BE49-F238E27FC236}">
                <a16:creationId xmlns:a16="http://schemas.microsoft.com/office/drawing/2014/main" id="{F630B860-9319-0CF0-C29A-2C02A1CC1392}"/>
              </a:ext>
            </a:extLst>
          </p:cNvPr>
          <p:cNvCxnSpPr>
            <a:cxnSpLocks/>
            <a:endCxn id="87" idx="1"/>
          </p:cNvCxnSpPr>
          <p:nvPr/>
        </p:nvCxnSpPr>
        <p:spPr>
          <a:xfrm>
            <a:off x="2597700" y="3019019"/>
            <a:ext cx="639339" cy="302833"/>
          </a:xfrm>
          <a:prstGeom prst="line">
            <a:avLst/>
          </a:prstGeom>
          <a:ln w="15240">
            <a:solidFill>
              <a:srgbClr val="5B82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41">
            <a:extLst>
              <a:ext uri="{FF2B5EF4-FFF2-40B4-BE49-F238E27FC236}">
                <a16:creationId xmlns:a16="http://schemas.microsoft.com/office/drawing/2014/main" id="{FEDE9868-2405-50A5-DAF2-C56161047B71}"/>
              </a:ext>
            </a:extLst>
          </p:cNvPr>
          <p:cNvCxnSpPr>
            <a:cxnSpLocks/>
            <a:endCxn id="87" idx="1"/>
          </p:cNvCxnSpPr>
          <p:nvPr/>
        </p:nvCxnSpPr>
        <p:spPr>
          <a:xfrm flipH="1">
            <a:off x="3237039" y="2997300"/>
            <a:ext cx="618304" cy="324552"/>
          </a:xfrm>
          <a:prstGeom prst="line">
            <a:avLst/>
          </a:prstGeom>
          <a:ln w="15240">
            <a:solidFill>
              <a:srgbClr val="5B82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18">
            <a:extLst>
              <a:ext uri="{FF2B5EF4-FFF2-40B4-BE49-F238E27FC236}">
                <a16:creationId xmlns:a16="http://schemas.microsoft.com/office/drawing/2014/main" id="{B1EFA17C-D2E8-AAC3-0C31-C40AACE9A486}"/>
              </a:ext>
            </a:extLst>
          </p:cNvPr>
          <p:cNvSpPr/>
          <p:nvPr/>
        </p:nvSpPr>
        <p:spPr>
          <a:xfrm>
            <a:off x="2316239" y="5426771"/>
            <a:ext cx="1584000" cy="627139"/>
          </a:xfrm>
          <a:prstGeom prst="roundRect">
            <a:avLst/>
          </a:prstGeom>
          <a:solidFill>
            <a:srgbClr val="F0F0F5"/>
          </a:solidFill>
          <a:ln w="13970">
            <a:solidFill>
              <a:srgbClr val="82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i="0" dirty="0">
                <a:solidFill>
                  <a:srgbClr val="000000"/>
                </a:solidFill>
                <a:latin typeface="Calibri"/>
              </a:rPr>
              <a:t>National concentration benchmarks</a:t>
            </a:r>
            <a:endParaRPr sz="900" b="1" i="0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95" name="Connector 45">
            <a:extLst>
              <a:ext uri="{FF2B5EF4-FFF2-40B4-BE49-F238E27FC236}">
                <a16:creationId xmlns:a16="http://schemas.microsoft.com/office/drawing/2014/main" id="{9C54991F-353B-A5E2-3E31-78A8FDCBD82A}"/>
              </a:ext>
            </a:extLst>
          </p:cNvPr>
          <p:cNvCxnSpPr>
            <a:cxnSpLocks/>
            <a:stCxn id="94" idx="1"/>
            <a:endCxn id="20" idx="4"/>
          </p:cNvCxnSpPr>
          <p:nvPr/>
        </p:nvCxnSpPr>
        <p:spPr>
          <a:xfrm flipH="1">
            <a:off x="1835999" y="5740341"/>
            <a:ext cx="480240" cy="8319"/>
          </a:xfrm>
          <a:prstGeom prst="line">
            <a:avLst/>
          </a:prstGeom>
          <a:ln w="15240">
            <a:solidFill>
              <a:srgbClr val="5B82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an 19">
            <a:extLst>
              <a:ext uri="{FF2B5EF4-FFF2-40B4-BE49-F238E27FC236}">
                <a16:creationId xmlns:a16="http://schemas.microsoft.com/office/drawing/2014/main" id="{A23A5D3B-318B-BDEC-3D0C-592BA1CC70F0}"/>
              </a:ext>
            </a:extLst>
          </p:cNvPr>
          <p:cNvSpPr/>
          <p:nvPr/>
        </p:nvSpPr>
        <p:spPr>
          <a:xfrm>
            <a:off x="5120641" y="5492699"/>
            <a:ext cx="1379259" cy="585251"/>
          </a:xfrm>
          <a:prstGeom prst="can">
            <a:avLst/>
          </a:prstGeom>
          <a:solidFill>
            <a:srgbClr val="EBE1FF"/>
          </a:solidFill>
          <a:ln w="13970">
            <a:solidFill>
              <a:srgbClr val="78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/>
            <a:r>
              <a:rPr lang="en-US" sz="900" b="1" dirty="0">
                <a:solidFill>
                  <a:srgbClr val="000000"/>
                </a:solidFill>
                <a:latin typeface="Calibri"/>
              </a:rPr>
              <a:t>refer</a:t>
            </a:r>
            <a:r>
              <a:rPr lang="en-IL" sz="900" b="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900" b="1" dirty="0">
                <a:solidFill>
                  <a:srgbClr val="000000"/>
                </a:solidFill>
                <a:latin typeface="Calibri"/>
              </a:rPr>
              <a:t>final reference data</a:t>
            </a:r>
            <a:endParaRPr lang="en-IL" sz="900" b="1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lang="en-US" sz="900" dirty="0">
                <a:solidFill>
                  <a:srgbClr val="000000"/>
                </a:solidFill>
                <a:latin typeface="Calibri"/>
              </a:rPr>
              <a:t>And perform calculations</a:t>
            </a:r>
            <a:endParaRPr lang="en-IL" sz="90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תיבת טקסט 109">
            <a:extLst>
              <a:ext uri="{FF2B5EF4-FFF2-40B4-BE49-F238E27FC236}">
                <a16:creationId xmlns:a16="http://schemas.microsoft.com/office/drawing/2014/main" id="{8EE61A56-A986-63BE-DEB6-831B666520E0}"/>
              </a:ext>
            </a:extLst>
          </p:cNvPr>
          <p:cNvSpPr txBox="1"/>
          <p:nvPr/>
        </p:nvSpPr>
        <p:spPr>
          <a:xfrm>
            <a:off x="6511269" y="4801931"/>
            <a:ext cx="3771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Yes</a:t>
            </a:r>
            <a:endParaRPr lang="LID4096" sz="1200" dirty="0"/>
          </a:p>
        </p:txBody>
      </p:sp>
      <p:sp>
        <p:nvSpPr>
          <p:cNvPr id="111" name="תיבת טקסט 110">
            <a:extLst>
              <a:ext uri="{FF2B5EF4-FFF2-40B4-BE49-F238E27FC236}">
                <a16:creationId xmlns:a16="http://schemas.microsoft.com/office/drawing/2014/main" id="{E216CB02-561C-9805-A602-F5F7F884CF9B}"/>
              </a:ext>
            </a:extLst>
          </p:cNvPr>
          <p:cNvSpPr txBox="1"/>
          <p:nvPr/>
        </p:nvSpPr>
        <p:spPr>
          <a:xfrm>
            <a:off x="5360649" y="4573331"/>
            <a:ext cx="377170" cy="252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Yes</a:t>
            </a:r>
            <a:endParaRPr lang="LID4096" sz="1200" dirty="0"/>
          </a:p>
        </p:txBody>
      </p:sp>
      <p:sp>
        <p:nvSpPr>
          <p:cNvPr id="112" name="תיבת טקסט 111">
            <a:extLst>
              <a:ext uri="{FF2B5EF4-FFF2-40B4-BE49-F238E27FC236}">
                <a16:creationId xmlns:a16="http://schemas.microsoft.com/office/drawing/2014/main" id="{08C5C090-82E0-B9AB-CB93-72C90565C50C}"/>
              </a:ext>
            </a:extLst>
          </p:cNvPr>
          <p:cNvSpPr txBox="1"/>
          <p:nvPr/>
        </p:nvSpPr>
        <p:spPr>
          <a:xfrm>
            <a:off x="6358869" y="4062791"/>
            <a:ext cx="3771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No</a:t>
            </a:r>
            <a:endParaRPr lang="LID4096" sz="1200" dirty="0"/>
          </a:p>
        </p:txBody>
      </p:sp>
      <p:cxnSp>
        <p:nvCxnSpPr>
          <p:cNvPr id="113" name="Connector 61">
            <a:extLst>
              <a:ext uri="{FF2B5EF4-FFF2-40B4-BE49-F238E27FC236}">
                <a16:creationId xmlns:a16="http://schemas.microsoft.com/office/drawing/2014/main" id="{8B1A918F-7600-D915-7487-1E15DAAD9558}"/>
              </a:ext>
            </a:extLst>
          </p:cNvPr>
          <p:cNvCxnSpPr>
            <a:cxnSpLocks/>
          </p:cNvCxnSpPr>
          <p:nvPr/>
        </p:nvCxnSpPr>
        <p:spPr>
          <a:xfrm>
            <a:off x="5819595" y="5257920"/>
            <a:ext cx="0" cy="216000"/>
          </a:xfrm>
          <a:prstGeom prst="line">
            <a:avLst/>
          </a:prstGeom>
          <a:ln w="15240">
            <a:solidFill>
              <a:srgbClr val="3CA0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חץ: למטה 129">
            <a:extLst>
              <a:ext uri="{FF2B5EF4-FFF2-40B4-BE49-F238E27FC236}">
                <a16:creationId xmlns:a16="http://schemas.microsoft.com/office/drawing/2014/main" id="{A9072941-71C4-9A2C-571F-5425D1981C9A}"/>
              </a:ext>
            </a:extLst>
          </p:cNvPr>
          <p:cNvSpPr/>
          <p:nvPr/>
        </p:nvSpPr>
        <p:spPr>
          <a:xfrm>
            <a:off x="6720259" y="6174660"/>
            <a:ext cx="442752" cy="767514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LID4096" sz="1200" dirty="0">
              <a:solidFill>
                <a:schemeClr val="tx1"/>
              </a:solidFill>
            </a:endParaRPr>
          </a:p>
        </p:txBody>
      </p:sp>
      <p:sp>
        <p:nvSpPr>
          <p:cNvPr id="131" name="חץ: למטה 130">
            <a:extLst>
              <a:ext uri="{FF2B5EF4-FFF2-40B4-BE49-F238E27FC236}">
                <a16:creationId xmlns:a16="http://schemas.microsoft.com/office/drawing/2014/main" id="{ED74D7CC-5B83-4914-E188-B3D8016C76B4}"/>
              </a:ext>
            </a:extLst>
          </p:cNvPr>
          <p:cNvSpPr/>
          <p:nvPr/>
        </p:nvSpPr>
        <p:spPr>
          <a:xfrm>
            <a:off x="4617139" y="6189900"/>
            <a:ext cx="699582" cy="767514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LID4096" sz="1200" dirty="0">
              <a:solidFill>
                <a:schemeClr val="tx1"/>
              </a:solidFill>
            </a:endParaRPr>
          </a:p>
        </p:txBody>
      </p:sp>
      <p:sp>
        <p:nvSpPr>
          <p:cNvPr id="132" name="תיבת טקסט 131">
            <a:extLst>
              <a:ext uri="{FF2B5EF4-FFF2-40B4-BE49-F238E27FC236}">
                <a16:creationId xmlns:a16="http://schemas.microsoft.com/office/drawing/2014/main" id="{B3749BC5-DA53-21D2-70F3-43D2E554C13B}"/>
              </a:ext>
            </a:extLst>
          </p:cNvPr>
          <p:cNvSpPr txBox="1"/>
          <p:nvPr/>
        </p:nvSpPr>
        <p:spPr>
          <a:xfrm>
            <a:off x="7151348" y="6295451"/>
            <a:ext cx="56405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Default</a:t>
            </a:r>
            <a:endParaRPr lang="LID4096" sz="1200" dirty="0"/>
          </a:p>
        </p:txBody>
      </p:sp>
      <p:sp>
        <p:nvSpPr>
          <p:cNvPr id="133" name="תיבת טקסט 132">
            <a:extLst>
              <a:ext uri="{FF2B5EF4-FFF2-40B4-BE49-F238E27FC236}">
                <a16:creationId xmlns:a16="http://schemas.microsoft.com/office/drawing/2014/main" id="{FF4E82D9-BCAC-570E-8811-80DCFB33D201}"/>
              </a:ext>
            </a:extLst>
          </p:cNvPr>
          <p:cNvSpPr txBox="1"/>
          <p:nvPr/>
        </p:nvSpPr>
        <p:spPr>
          <a:xfrm>
            <a:off x="5170148" y="6287831"/>
            <a:ext cx="7087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Advanced</a:t>
            </a:r>
            <a:endParaRPr lang="LID4096" sz="1200" dirty="0"/>
          </a:p>
        </p:txBody>
      </p:sp>
      <p:sp>
        <p:nvSpPr>
          <p:cNvPr id="134" name="Rectangle 5">
            <a:extLst>
              <a:ext uri="{FF2B5EF4-FFF2-40B4-BE49-F238E27FC236}">
                <a16:creationId xmlns:a16="http://schemas.microsoft.com/office/drawing/2014/main" id="{19D96159-13D3-39A7-9E75-E42C45E0C1A2}"/>
              </a:ext>
            </a:extLst>
          </p:cNvPr>
          <p:cNvSpPr/>
          <p:nvPr/>
        </p:nvSpPr>
        <p:spPr>
          <a:xfrm>
            <a:off x="345600" y="6972654"/>
            <a:ext cx="4647180" cy="2004605"/>
          </a:xfrm>
          <a:prstGeom prst="rect">
            <a:avLst/>
          </a:prstGeom>
          <a:solidFill>
            <a:srgbClr val="F0F0F5">
              <a:alpha val="18000"/>
            </a:srgbClr>
          </a:solidFill>
          <a:ln w="17780">
            <a:solidFill>
              <a:srgbClr val="8282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900"/>
          </a:p>
        </p:txBody>
      </p:sp>
      <p:sp>
        <p:nvSpPr>
          <p:cNvPr id="135" name="Rectangle 6">
            <a:extLst>
              <a:ext uri="{FF2B5EF4-FFF2-40B4-BE49-F238E27FC236}">
                <a16:creationId xmlns:a16="http://schemas.microsoft.com/office/drawing/2014/main" id="{BBF605E8-DFAC-758F-D593-972BB0AE7F2F}"/>
              </a:ext>
            </a:extLst>
          </p:cNvPr>
          <p:cNvSpPr/>
          <p:nvPr/>
        </p:nvSpPr>
        <p:spPr>
          <a:xfrm>
            <a:off x="1609449" y="7215898"/>
            <a:ext cx="1008000" cy="1668599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 w="1524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900"/>
          </a:p>
        </p:txBody>
      </p:sp>
      <p:sp>
        <p:nvSpPr>
          <p:cNvPr id="136" name="Rectangle 7">
            <a:extLst>
              <a:ext uri="{FF2B5EF4-FFF2-40B4-BE49-F238E27FC236}">
                <a16:creationId xmlns:a16="http://schemas.microsoft.com/office/drawing/2014/main" id="{9D4E4F93-5B39-114B-BC7F-FD34A76409D1}"/>
              </a:ext>
            </a:extLst>
          </p:cNvPr>
          <p:cNvSpPr/>
          <p:nvPr/>
        </p:nvSpPr>
        <p:spPr>
          <a:xfrm>
            <a:off x="2749388" y="7215898"/>
            <a:ext cx="1008000" cy="1668599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 w="1524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900"/>
          </a:p>
        </p:txBody>
      </p:sp>
      <p:sp>
        <p:nvSpPr>
          <p:cNvPr id="137" name="Rectangle 8">
            <a:extLst>
              <a:ext uri="{FF2B5EF4-FFF2-40B4-BE49-F238E27FC236}">
                <a16:creationId xmlns:a16="http://schemas.microsoft.com/office/drawing/2014/main" id="{6D34278F-5266-545A-6245-8EB5A8D81947}"/>
              </a:ext>
            </a:extLst>
          </p:cNvPr>
          <p:cNvSpPr/>
          <p:nvPr/>
        </p:nvSpPr>
        <p:spPr>
          <a:xfrm>
            <a:off x="3912189" y="7215898"/>
            <a:ext cx="1008000" cy="1668599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 w="1524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900"/>
          </a:p>
        </p:txBody>
      </p:sp>
      <p:sp>
        <p:nvSpPr>
          <p:cNvPr id="138" name="TextBox 12">
            <a:extLst>
              <a:ext uri="{FF2B5EF4-FFF2-40B4-BE49-F238E27FC236}">
                <a16:creationId xmlns:a16="http://schemas.microsoft.com/office/drawing/2014/main" id="{8ECB1F30-5FA8-FE1E-1ABB-4E05AA18C40F}"/>
              </a:ext>
            </a:extLst>
          </p:cNvPr>
          <p:cNvSpPr txBox="1"/>
          <p:nvPr/>
        </p:nvSpPr>
        <p:spPr>
          <a:xfrm>
            <a:off x="1642500" y="6963293"/>
            <a:ext cx="2079900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8282A0"/>
                </a:solidFill>
                <a:latin typeface="Calibri"/>
              </a:rPr>
              <a:t>PARALLEL TAXONOMIC COMPUTATION</a:t>
            </a:r>
          </a:p>
        </p:txBody>
      </p:sp>
      <p:sp>
        <p:nvSpPr>
          <p:cNvPr id="139" name="Rounded Rectangle 32">
            <a:extLst>
              <a:ext uri="{FF2B5EF4-FFF2-40B4-BE49-F238E27FC236}">
                <a16:creationId xmlns:a16="http://schemas.microsoft.com/office/drawing/2014/main" id="{364D1C6E-FBA7-34B5-55A9-C2EEAB440CFA}"/>
              </a:ext>
            </a:extLst>
          </p:cNvPr>
          <p:cNvSpPr/>
          <p:nvPr/>
        </p:nvSpPr>
        <p:spPr>
          <a:xfrm>
            <a:off x="1663639" y="7260427"/>
            <a:ext cx="900000" cy="156700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397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i="0" dirty="0" err="1">
                <a:solidFill>
                  <a:srgbClr val="000000"/>
                </a:solidFill>
                <a:latin typeface="Calibri"/>
              </a:rPr>
              <a:t>Indepandent</a:t>
            </a:r>
            <a:r>
              <a:rPr lang="en-US" sz="900" b="1" i="0" dirty="0">
                <a:solidFill>
                  <a:srgbClr val="000000"/>
                </a:solidFill>
                <a:latin typeface="Calibri"/>
              </a:rPr>
              <a:t> action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 err="1">
                <a:solidFill>
                  <a:srgbClr val="000000"/>
                </a:solidFill>
                <a:latin typeface="Calibri"/>
              </a:rPr>
              <a:t>E</a:t>
            </a:r>
            <a:r>
              <a:rPr lang="en-US" sz="900" baseline="-25000" dirty="0" err="1">
                <a:solidFill>
                  <a:srgbClr val="000000"/>
                </a:solidFill>
                <a:latin typeface="Calibri"/>
              </a:rPr>
              <a:t>g,i</a:t>
            </a:r>
            <a:r>
              <a:rPr lang="en-US" sz="900" dirty="0">
                <a:solidFill>
                  <a:srgbClr val="000000"/>
                </a:solidFill>
                <a:latin typeface="Calibri"/>
              </a:rPr>
              <a:t>=</a:t>
            </a:r>
            <a:r>
              <a:rPr lang="en-US" sz="900" dirty="0" err="1">
                <a:solidFill>
                  <a:srgbClr val="000000"/>
                </a:solidFill>
                <a:latin typeface="Calibri"/>
              </a:rPr>
              <a:t>Tu</a:t>
            </a:r>
            <a:r>
              <a:rPr lang="en-US" sz="900" baseline="-25000" dirty="0" err="1">
                <a:solidFill>
                  <a:srgbClr val="000000"/>
                </a:solidFill>
                <a:latin typeface="Calibri"/>
              </a:rPr>
              <a:t>g,I</a:t>
            </a:r>
            <a:r>
              <a:rPr lang="en-US" sz="900" dirty="0">
                <a:solidFill>
                  <a:srgbClr val="000000"/>
                </a:solidFill>
                <a:latin typeface="Calibri"/>
              </a:rPr>
              <a:t> / </a:t>
            </a:r>
            <a:endParaRPr lang="en-US" sz="900" i="0" dirty="0">
              <a:solidFill>
                <a:srgbClr val="000000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0" i="0" dirty="0">
                <a:solidFill>
                  <a:srgbClr val="000000"/>
                </a:solidFill>
                <a:latin typeface="Calibri"/>
              </a:rPr>
              <a:t>(1 + </a:t>
            </a:r>
            <a:r>
              <a:rPr lang="en-US" sz="900" dirty="0" err="1">
                <a:solidFill>
                  <a:srgbClr val="000000"/>
                </a:solidFill>
              </a:rPr>
              <a:t>Tu</a:t>
            </a:r>
            <a:r>
              <a:rPr lang="en-US" sz="900" baseline="-25000" dirty="0" err="1">
                <a:solidFill>
                  <a:srgbClr val="000000"/>
                </a:solidFill>
              </a:rPr>
              <a:t>g,I</a:t>
            </a:r>
            <a:r>
              <a:rPr lang="en-US" sz="900" dirty="0">
                <a:solidFill>
                  <a:srgbClr val="000000"/>
                </a:solidFill>
              </a:rPr>
              <a:t>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0" i="0" dirty="0" err="1">
                <a:solidFill>
                  <a:srgbClr val="000000"/>
                </a:solidFill>
                <a:latin typeface="Calibri"/>
              </a:rPr>
              <a:t>E</a:t>
            </a:r>
            <a:r>
              <a:rPr lang="en-US" sz="900" b="0" i="0" baseline="30000" dirty="0" err="1">
                <a:solidFill>
                  <a:srgbClr val="000000"/>
                </a:solidFill>
                <a:latin typeface="Calibri"/>
              </a:rPr>
              <a:t>mix</a:t>
            </a:r>
            <a:r>
              <a:rPr lang="en-US" sz="900" b="0" i="0" dirty="0">
                <a:solidFill>
                  <a:srgbClr val="000000"/>
                </a:solidFill>
                <a:latin typeface="Calibri"/>
              </a:rPr>
              <a:t> = 1 – </a:t>
            </a:r>
            <a:r>
              <a:rPr lang="el-GR" sz="900" b="0" i="0" dirty="0">
                <a:solidFill>
                  <a:srgbClr val="000000"/>
                </a:solidFill>
                <a:latin typeface="Calibri"/>
              </a:rPr>
              <a:t>Π</a:t>
            </a:r>
            <a:r>
              <a:rPr lang="en-US" sz="900" b="0" i="0" dirty="0">
                <a:solidFill>
                  <a:srgbClr val="000000"/>
                </a:solidFill>
                <a:latin typeface="Calibri"/>
              </a:rPr>
              <a:t>(1-E</a:t>
            </a:r>
            <a:r>
              <a:rPr lang="en-US" sz="900" b="0" i="0" baseline="-25000" dirty="0">
                <a:solidFill>
                  <a:srgbClr val="000000"/>
                </a:solidFill>
                <a:latin typeface="Calibri"/>
              </a:rPr>
              <a:t>g,i</a:t>
            </a:r>
            <a:r>
              <a:rPr lang="en-US" sz="900" b="0" i="0"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per compound, per station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per taxon</a:t>
            </a:r>
            <a:endParaRPr sz="900" b="0" i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Rounded Rectangle 34">
            <a:extLst>
              <a:ext uri="{FF2B5EF4-FFF2-40B4-BE49-F238E27FC236}">
                <a16:creationId xmlns:a16="http://schemas.microsoft.com/office/drawing/2014/main" id="{716080F2-0F84-0CD3-BBB5-B51B975A5424}"/>
              </a:ext>
            </a:extLst>
          </p:cNvPr>
          <p:cNvSpPr/>
          <p:nvPr/>
        </p:nvSpPr>
        <p:spPr>
          <a:xfrm>
            <a:off x="2803579" y="7252806"/>
            <a:ext cx="900000" cy="157152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397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000000"/>
                </a:solidFill>
              </a:rPr>
              <a:t>Benchmark based 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TU + PTI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TUᵢⱼ = Cᵢⱼ / benchmark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900" dirty="0">
              <a:solidFill>
                <a:srgbClr val="000000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per compound, per station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per taxon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143" name="Rounded Rectangle 36">
            <a:extLst>
              <a:ext uri="{FF2B5EF4-FFF2-40B4-BE49-F238E27FC236}">
                <a16:creationId xmlns:a16="http://schemas.microsoft.com/office/drawing/2014/main" id="{E6F8B948-E575-532A-5637-01B32E13AC38}"/>
              </a:ext>
            </a:extLst>
          </p:cNvPr>
          <p:cNvSpPr/>
          <p:nvPr/>
        </p:nvSpPr>
        <p:spPr>
          <a:xfrm>
            <a:off x="3966379" y="7268046"/>
            <a:ext cx="900000" cy="157152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397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i="0" dirty="0">
                <a:solidFill>
                  <a:srgbClr val="000000"/>
                </a:solidFill>
                <a:latin typeface="Calibri"/>
              </a:rPr>
              <a:t>HC</a:t>
            </a:r>
            <a:r>
              <a:rPr lang="en-US" sz="900" b="1" i="0" baseline="-25000" dirty="0">
                <a:solidFill>
                  <a:srgbClr val="000000"/>
                </a:solidFill>
                <a:latin typeface="Calibri"/>
              </a:rPr>
              <a:t>5</a:t>
            </a:r>
            <a:r>
              <a:rPr lang="en-US" sz="900" b="1" i="0" dirty="0">
                <a:solidFill>
                  <a:srgbClr val="000000"/>
                </a:solidFill>
                <a:latin typeface="Calibri"/>
              </a:rPr>
              <a:t> based 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dirty="0">
                <a:solidFill>
                  <a:srgbClr val="000000"/>
                </a:solidFill>
                <a:latin typeface="Calibri"/>
              </a:rPr>
              <a:t>TU + PTI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TUᵢⱼ = Cᵢⱼ / HC₅,ᵢ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per compound, per station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per taxon</a:t>
            </a:r>
            <a:endParaRPr lang="en-US" sz="900" dirty="0">
              <a:solidFill>
                <a:srgbClr val="000000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sz="900" b="0" i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Rectangle 6">
            <a:extLst>
              <a:ext uri="{FF2B5EF4-FFF2-40B4-BE49-F238E27FC236}">
                <a16:creationId xmlns:a16="http://schemas.microsoft.com/office/drawing/2014/main" id="{846F65D3-C2ED-3009-18CD-41831C7B0003}"/>
              </a:ext>
            </a:extLst>
          </p:cNvPr>
          <p:cNvSpPr/>
          <p:nvPr/>
        </p:nvSpPr>
        <p:spPr>
          <a:xfrm>
            <a:off x="458829" y="7215898"/>
            <a:ext cx="1008000" cy="1668599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 w="1524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900"/>
          </a:p>
        </p:txBody>
      </p:sp>
      <p:sp>
        <p:nvSpPr>
          <p:cNvPr id="149" name="Rounded Rectangle 32">
            <a:extLst>
              <a:ext uri="{FF2B5EF4-FFF2-40B4-BE49-F238E27FC236}">
                <a16:creationId xmlns:a16="http://schemas.microsoft.com/office/drawing/2014/main" id="{076AAEBD-6212-739E-B802-387BD231E162}"/>
              </a:ext>
            </a:extLst>
          </p:cNvPr>
          <p:cNvSpPr/>
          <p:nvPr/>
        </p:nvSpPr>
        <p:spPr>
          <a:xfrm>
            <a:off x="513019" y="7260427"/>
            <a:ext cx="900000" cy="156700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397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1" i="0" dirty="0">
                <a:solidFill>
                  <a:srgbClr val="000000"/>
                </a:solidFill>
                <a:latin typeface="Calibri"/>
              </a:rPr>
              <a:t>Concentration addition + Mode action</a:t>
            </a:r>
          </a:p>
          <a:p>
            <a:r>
              <a:rPr lang="en-US" sz="900" dirty="0">
                <a:solidFill>
                  <a:srgbClr val="000000"/>
                </a:solidFill>
              </a:rPr>
              <a:t>Concentration Addition per group + the group-level Independent Action</a:t>
            </a:r>
          </a:p>
          <a:p>
            <a:r>
              <a:rPr lang="en-US" sz="900" dirty="0">
                <a:solidFill>
                  <a:srgbClr val="000000"/>
                </a:solidFill>
              </a:rPr>
              <a:t>Effect calculation</a:t>
            </a:r>
            <a:endParaRPr sz="900" i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חץ: למטה 149">
            <a:extLst>
              <a:ext uri="{FF2B5EF4-FFF2-40B4-BE49-F238E27FC236}">
                <a16:creationId xmlns:a16="http://schemas.microsoft.com/office/drawing/2014/main" id="{FE0AD6F9-5097-44AD-4349-505106E7A189}"/>
              </a:ext>
            </a:extLst>
          </p:cNvPr>
          <p:cNvSpPr/>
          <p:nvPr/>
        </p:nvSpPr>
        <p:spPr>
          <a:xfrm>
            <a:off x="4339045" y="8962019"/>
            <a:ext cx="360455" cy="172500"/>
          </a:xfrm>
          <a:prstGeom prst="downArrow">
            <a:avLst/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425</Words>
  <Application>Microsoft Office PowerPoint</Application>
  <PresentationFormat>מותאם אישית</PresentationFormat>
  <Paragraphs>107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Yair Suari</cp:lastModifiedBy>
  <cp:revision>17</cp:revision>
  <dcterms:created xsi:type="dcterms:W3CDTF">2013-01-27T09:14:16Z</dcterms:created>
  <dcterms:modified xsi:type="dcterms:W3CDTF">2026-05-24T09:39:55Z</dcterms:modified>
  <cp:category/>
</cp:coreProperties>
</file>