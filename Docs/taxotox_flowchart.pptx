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58" y="-26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000" y="108000"/>
            <a:ext cx="1877437" cy="2308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Calibri"/>
              </a:rPr>
              <a:t>TaxoTox — Architectural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413999"/>
            <a:ext cx="4826962" cy="2308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646464"/>
                </a:solidFill>
                <a:latin typeface="Calibri"/>
              </a:rPr>
              <a:t>Mixture Toxicity Assessment of Aquatic Pollutant Assemblages using the Toxic Unit (TU)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45600" y="1160089"/>
            <a:ext cx="1684800" cy="4973400"/>
          </a:xfrm>
          <a:prstGeom prst="rect">
            <a:avLst/>
          </a:prstGeom>
          <a:solidFill>
            <a:srgbClr val="DCE8F5">
              <a:alpha val="35000"/>
            </a:srgbClr>
          </a:solidFill>
          <a:ln w="20320">
            <a:solidFill>
              <a:srgbClr val="5B82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900"/>
          </a:p>
        </p:txBody>
      </p:sp>
      <p:sp>
        <p:nvSpPr>
          <p:cNvPr id="5" name="Rectangle 4"/>
          <p:cNvSpPr/>
          <p:nvPr/>
        </p:nvSpPr>
        <p:spPr>
          <a:xfrm>
            <a:off x="2871256" y="1188000"/>
            <a:ext cx="3823457" cy="4892400"/>
          </a:xfrm>
          <a:prstGeom prst="rect">
            <a:avLst/>
          </a:prstGeom>
          <a:solidFill>
            <a:srgbClr val="DCF5E4">
              <a:alpha val="25000"/>
            </a:srgbClr>
          </a:solidFill>
          <a:ln w="20320">
            <a:solidFill>
              <a:srgbClr val="3CA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900"/>
          </a:p>
        </p:txBody>
      </p:sp>
      <p:sp>
        <p:nvSpPr>
          <p:cNvPr id="6" name="Rectangle 5"/>
          <p:cNvSpPr/>
          <p:nvPr/>
        </p:nvSpPr>
        <p:spPr>
          <a:xfrm>
            <a:off x="1512000" y="6782154"/>
            <a:ext cx="4860000" cy="2004605"/>
          </a:xfrm>
          <a:prstGeom prst="rect">
            <a:avLst/>
          </a:prstGeom>
          <a:solidFill>
            <a:srgbClr val="F0F0F5">
              <a:alpha val="18000"/>
            </a:srgbClr>
          </a:solidFill>
          <a:ln w="17780">
            <a:solidFill>
              <a:srgbClr val="8282A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900"/>
          </a:p>
        </p:txBody>
      </p:sp>
      <p:sp>
        <p:nvSpPr>
          <p:cNvPr id="7" name="Rectangle 6"/>
          <p:cNvSpPr/>
          <p:nvPr/>
        </p:nvSpPr>
        <p:spPr>
          <a:xfrm>
            <a:off x="1576800" y="7020000"/>
            <a:ext cx="1490400" cy="1668599"/>
          </a:xfrm>
          <a:prstGeom prst="rect">
            <a:avLst/>
          </a:prstGeom>
          <a:solidFill>
            <a:srgbClr val="B4E6A0">
              <a:alpha val="30000"/>
            </a:srgbClr>
          </a:solidFill>
          <a:ln w="15240">
            <a:solidFill>
              <a:srgbClr val="3C9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900"/>
          </a:p>
        </p:txBody>
      </p:sp>
      <p:sp>
        <p:nvSpPr>
          <p:cNvPr id="8" name="Rectangle 7"/>
          <p:cNvSpPr/>
          <p:nvPr/>
        </p:nvSpPr>
        <p:spPr>
          <a:xfrm>
            <a:off x="3196799" y="7020000"/>
            <a:ext cx="1490400" cy="1668599"/>
          </a:xfrm>
          <a:prstGeom prst="rect">
            <a:avLst/>
          </a:prstGeom>
          <a:solidFill>
            <a:srgbClr val="FFD79B">
              <a:alpha val="30000"/>
            </a:srgbClr>
          </a:solidFill>
          <a:ln w="15240">
            <a:solidFill>
              <a:srgbClr val="D27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900"/>
          </a:p>
        </p:txBody>
      </p:sp>
      <p:sp>
        <p:nvSpPr>
          <p:cNvPr id="9" name="Rectangle 8"/>
          <p:cNvSpPr/>
          <p:nvPr/>
        </p:nvSpPr>
        <p:spPr>
          <a:xfrm>
            <a:off x="4816800" y="7020000"/>
            <a:ext cx="1490400" cy="1668599"/>
          </a:xfrm>
          <a:prstGeom prst="rect">
            <a:avLst/>
          </a:prstGeom>
          <a:solidFill>
            <a:srgbClr val="B4D7FA">
              <a:alpha val="30000"/>
            </a:srgbClr>
          </a:solidFill>
          <a:ln w="15240">
            <a:solidFill>
              <a:srgbClr val="326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900"/>
          </a:p>
        </p:txBody>
      </p:sp>
      <p:sp>
        <p:nvSpPr>
          <p:cNvPr id="10" name="Rectangle 9"/>
          <p:cNvSpPr/>
          <p:nvPr/>
        </p:nvSpPr>
        <p:spPr>
          <a:xfrm>
            <a:off x="1382400" y="8959259"/>
            <a:ext cx="5248800" cy="939600"/>
          </a:xfrm>
          <a:prstGeom prst="rect">
            <a:avLst/>
          </a:prstGeom>
          <a:solidFill>
            <a:srgbClr val="FFE6E6">
              <a:alpha val="25000"/>
            </a:srgbClr>
          </a:solidFill>
          <a:ln w="17780">
            <a:solidFill>
              <a:srgbClr val="C8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361799" y="1224060"/>
            <a:ext cx="1654200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dirty="0">
                <a:solidFill>
                  <a:srgbClr val="5B82B9"/>
                </a:solidFill>
                <a:latin typeface="Calibri"/>
              </a:rPr>
              <a:t>OFFLINE PREPARATION PHASE
(run once, refresh quarterly)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900" y="1186533"/>
            <a:ext cx="322380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1" dirty="0">
                <a:solidFill>
                  <a:srgbClr val="3CA05A"/>
                </a:solidFill>
                <a:latin typeface="Calibri"/>
              </a:rPr>
              <a:t>ONLINE SESSION PHASE   (interactive Shiny app)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2000" y="6786659"/>
            <a:ext cx="2068195" cy="2308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sz="900" b="1" dirty="0">
                <a:solidFill>
                  <a:srgbClr val="8282A0"/>
                </a:solidFill>
                <a:latin typeface="Calibri"/>
              </a:rPr>
              <a:t>PARALLEL TAXONOMIC COMPUTATION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8600" y="9022320"/>
            <a:ext cx="915635" cy="2308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83C3C"/>
                </a:solidFill>
                <a:latin typeface="Calibri"/>
              </a:rPr>
              <a:t>OUTPUT LAYER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5999" y="1732320"/>
            <a:ext cx="1584000" cy="432000"/>
          </a:xfrm>
          <a:prstGeom prst="roundRect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Calibri"/>
              </a:rPr>
              <a:t>Use ecotoxR to update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SQLite EPA/ECOTOX database</a:t>
            </a:r>
          </a:p>
        </p:txBody>
      </p:sp>
      <p:sp>
        <p:nvSpPr>
          <p:cNvPr id="16" name="Can 15"/>
          <p:cNvSpPr/>
          <p:nvPr/>
        </p:nvSpPr>
        <p:spPr>
          <a:xfrm>
            <a:off x="539999" y="2286719"/>
            <a:ext cx="1296000" cy="684000"/>
          </a:xfrm>
          <a:prstGeom prst="can">
            <a:avLst/>
          </a:prstGeom>
          <a:solidFill>
            <a:srgbClr val="EBE1FF"/>
          </a:solidFill>
          <a:ln w="13970">
            <a:solidFill>
              <a:srgbClr val="785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Calibri"/>
              </a:rPr>
              <a:t>ECOTOX SQLite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EPA Aquatic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LC₅₀ / EC₅₀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5999" y="3172319"/>
            <a:ext cx="1584000" cy="468000"/>
          </a:xfrm>
          <a:prstGeom prst="roundRect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Calibri"/>
              </a:rPr>
              <a:t>taxotox_install.R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SQL extraction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(fish, algae, crustacean)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0000" y="3748320"/>
            <a:ext cx="1655999" cy="936000"/>
          </a:xfrm>
          <a:prstGeom prst="roundRect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Calibri"/>
              </a:rPr>
              <a:t>Unit Normalisation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ng L⁻¹   μg L⁻¹   mg L⁻¹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↘  ↓  ↙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ng L⁻¹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0000"/>
                </a:solidFill>
                <a:latin typeface="Calibri"/>
              </a:rPr>
              <a:t>back-transform (log)LC₅₀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5999" y="4844670"/>
            <a:ext cx="1584000" cy="432000"/>
          </a:xfrm>
          <a:prstGeom prst="roundRect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Calibri"/>
              </a:rPr>
              <a:t>Calculate Medians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per taxon and pollutant</a:t>
            </a:r>
          </a:p>
        </p:txBody>
      </p:sp>
      <p:sp>
        <p:nvSpPr>
          <p:cNvPr id="20" name="Can 19"/>
          <p:cNvSpPr/>
          <p:nvPr/>
        </p:nvSpPr>
        <p:spPr>
          <a:xfrm>
            <a:off x="539999" y="5429520"/>
            <a:ext cx="1296000" cy="684000"/>
          </a:xfrm>
          <a:prstGeom prst="can">
            <a:avLst/>
          </a:prstGeom>
          <a:solidFill>
            <a:srgbClr val="EBE1FF"/>
          </a:solidFill>
          <a:ln w="13970">
            <a:solidFill>
              <a:srgbClr val="785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 dirty="0" err="1">
                <a:solidFill>
                  <a:srgbClr val="000000"/>
                </a:solidFill>
                <a:latin typeface="Calibri"/>
              </a:rPr>
              <a:t>final_ecotox_data.fst</a:t>
            </a:r>
            <a:endParaRPr sz="900" b="1" i="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arallelogram 20"/>
          <p:cNvSpPr/>
          <p:nvPr/>
        </p:nvSpPr>
        <p:spPr>
          <a:xfrm>
            <a:off x="3150000" y="1440000"/>
            <a:ext cx="1584000" cy="468000"/>
          </a:xfrm>
          <a:prstGeom prst="parallelogram">
            <a:avLst/>
          </a:prstGeom>
          <a:solidFill>
            <a:srgbClr val="FFF5C8"/>
          </a:solidFill>
          <a:ln w="13970">
            <a:solidFill>
              <a:srgbClr val="D2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Calibri"/>
              </a:rPr>
              <a:t>User Uploads File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CSV / XLSX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Units: ng L⁻¹</a:t>
            </a:r>
          </a:p>
        </p:txBody>
      </p:sp>
      <p:sp>
        <p:nvSpPr>
          <p:cNvPr id="22" name="Diamond 21"/>
          <p:cNvSpPr/>
          <p:nvPr/>
        </p:nvSpPr>
        <p:spPr>
          <a:xfrm>
            <a:off x="3366000" y="2051999"/>
            <a:ext cx="1152000" cy="540000"/>
          </a:xfrm>
          <a:prstGeom prst="diamond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Data
orientation?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87200" y="2069999"/>
            <a:ext cx="1296000" cy="503999"/>
          </a:xfrm>
          <a:prstGeom prst="roundRect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Calibri"/>
              </a:rPr>
              <a:t>Transpose matrix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(row layout →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canonical layout)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22000" y="2721600"/>
            <a:ext cx="1440000" cy="432000"/>
          </a:xfrm>
          <a:prstGeom prst="roundRect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Calibri"/>
              </a:rPr>
              <a:t>Tidy &amp; Validate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Parse numeric values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86000" y="3251201"/>
            <a:ext cx="1512000" cy="576000"/>
          </a:xfrm>
          <a:prstGeom prst="roundRect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Calibri"/>
              </a:rPr>
              <a:t>CASRN Layer 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Exact match 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Known_CAS.fst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0000"/>
                </a:solidFill>
                <a:latin typeface="Calibri"/>
              </a:rPr>
              <a:t>Status: Confirmed</a:t>
            </a:r>
          </a:p>
        </p:txBody>
      </p:sp>
      <p:sp>
        <p:nvSpPr>
          <p:cNvPr id="26" name="Can 25"/>
          <p:cNvSpPr/>
          <p:nvPr/>
        </p:nvSpPr>
        <p:spPr>
          <a:xfrm>
            <a:off x="5241600" y="3146400"/>
            <a:ext cx="1224000" cy="684000"/>
          </a:xfrm>
          <a:prstGeom prst="can">
            <a:avLst/>
          </a:prstGeom>
          <a:solidFill>
            <a:srgbClr val="EBE1FF"/>
          </a:solidFill>
          <a:ln w="13970">
            <a:solidFill>
              <a:srgbClr val="785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Calibri"/>
              </a:rPr>
              <a:t>Known_CAS.fst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Curated internal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CASRN lookup</a:t>
            </a:r>
          </a:p>
        </p:txBody>
      </p:sp>
      <p:sp>
        <p:nvSpPr>
          <p:cNvPr id="27" name="Diamond 26"/>
          <p:cNvSpPr/>
          <p:nvPr/>
        </p:nvSpPr>
        <p:spPr>
          <a:xfrm>
            <a:off x="3366000" y="3965068"/>
            <a:ext cx="1152000" cy="540000"/>
          </a:xfrm>
          <a:prstGeom prst="diamond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All
resolved?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12400" y="3987265"/>
            <a:ext cx="1440000" cy="463783"/>
          </a:xfrm>
          <a:prstGeom prst="roundRect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br>
              <a:rPr lang="en-US" sz="900" b="1" i="0" dirty="0">
                <a:solidFill>
                  <a:srgbClr val="000000"/>
                </a:solidFill>
                <a:latin typeface="Calibri"/>
              </a:rPr>
            </a:br>
            <a:r>
              <a:rPr sz="900" b="1" i="0" dirty="0">
                <a:solidFill>
                  <a:srgbClr val="000000"/>
                </a:solidFill>
                <a:latin typeface="Calibri"/>
              </a:rPr>
              <a:t>Layer 2 (Optional)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000000"/>
                </a:solidFill>
                <a:latin typeface="Calibri"/>
              </a:rPr>
              <a:t>PubChem REST API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000000"/>
                </a:solidFill>
                <a:latin typeface="Calibri"/>
              </a:rPr>
              <a:t>via </a:t>
            </a:r>
            <a:r>
              <a:rPr sz="900" b="0" i="0" dirty="0" err="1">
                <a:solidFill>
                  <a:srgbClr val="000000"/>
                </a:solidFill>
                <a:latin typeface="Calibri"/>
              </a:rPr>
              <a:t>webchem</a:t>
            </a:r>
            <a:endParaRPr sz="900" b="0" i="0" dirty="0">
              <a:solidFill>
                <a:srgbClr val="000000"/>
              </a:solidFill>
              <a:latin typeface="Calibr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Diamond 28"/>
          <p:cNvSpPr/>
          <p:nvPr/>
        </p:nvSpPr>
        <p:spPr>
          <a:xfrm>
            <a:off x="4856400" y="4649531"/>
            <a:ext cx="1152000" cy="540000"/>
          </a:xfrm>
          <a:prstGeom prst="diamond">
            <a:avLst/>
          </a:prstGeom>
          <a:solidFill>
            <a:srgbClr val="F0F0F5"/>
          </a:solidFill>
          <a:ln w="13970">
            <a:solidFill>
              <a:srgbClr val="8282A0"/>
            </a:solidFill>
            <a:tailEnd type="triangle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All
resolved?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28593" y="5313600"/>
            <a:ext cx="1512000" cy="432000"/>
          </a:xfrm>
          <a:prstGeom prst="roundRect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Calibri"/>
              </a:rPr>
              <a:t>Merge Resolved CASRNs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with concentration matrix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74768" y="5326295"/>
            <a:ext cx="885509" cy="385238"/>
          </a:xfrm>
          <a:prstGeom prst="roundRect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 dirty="0">
                <a:solidFill>
                  <a:srgbClr val="000000"/>
                </a:solidFill>
                <a:latin typeface="Calibri"/>
              </a:rPr>
              <a:t>Manual CASRN Entry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14000" y="6250332"/>
            <a:ext cx="1655999" cy="503999"/>
          </a:xfrm>
          <a:prstGeom prst="roundRect">
            <a:avLst/>
          </a:prstGeom>
          <a:solidFill>
            <a:srgbClr val="F0F0F5"/>
          </a:solidFill>
          <a:ln w="1397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Calibri"/>
              </a:rPr>
              <a:t>Join with ECOTOX data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Match on cas_number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Group: algae / crustacean / fish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02000" y="7045199"/>
            <a:ext cx="1440000" cy="792000"/>
          </a:xfrm>
          <a:prstGeom prst="roundRect">
            <a:avLst/>
          </a:prstGeom>
          <a:solidFill>
            <a:srgbClr val="B4E6A0"/>
          </a:solidFill>
          <a:ln w="13970">
            <a:solidFill>
              <a:srgbClr val="3C9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6E14"/>
                </a:solidFill>
                <a:latin typeface="Calibri"/>
              </a:rPr>
              <a:t>Algae TU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TUᵢⱼ = Cᵢⱼ / LC̃₅₀,ᵢ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per compound, per station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02000" y="8179200"/>
            <a:ext cx="1440000" cy="468000"/>
          </a:xfrm>
          <a:prstGeom prst="roundRect">
            <a:avLst/>
          </a:prstGeom>
          <a:solidFill>
            <a:srgbClr val="B4E6A0"/>
          </a:solidFill>
          <a:ln w="13970">
            <a:solidFill>
              <a:srgbClr val="3C9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6E14"/>
                </a:solidFill>
                <a:latin typeface="Calibri"/>
              </a:rPr>
              <a:t>Algae PTI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PTIⱼ = Σᵢ TUᵢⱼ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22000" y="7045199"/>
            <a:ext cx="1440000" cy="792000"/>
          </a:xfrm>
          <a:prstGeom prst="roundRect">
            <a:avLst/>
          </a:prstGeom>
          <a:solidFill>
            <a:srgbClr val="FFD79B"/>
          </a:solidFill>
          <a:ln w="13970">
            <a:solidFill>
              <a:srgbClr val="D27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05000"/>
                </a:solidFill>
                <a:latin typeface="Calibri"/>
              </a:rPr>
              <a:t>Crustacean TU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TUᵢⱼ = Cᵢⱼ / LC̃₅₀,ᵢ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per compound, per station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22000" y="8179200"/>
            <a:ext cx="1440000" cy="468000"/>
          </a:xfrm>
          <a:prstGeom prst="roundRect">
            <a:avLst/>
          </a:prstGeom>
          <a:solidFill>
            <a:srgbClr val="FFD79B"/>
          </a:solidFill>
          <a:ln w="13970">
            <a:solidFill>
              <a:srgbClr val="D27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05000"/>
                </a:solidFill>
                <a:latin typeface="Calibri"/>
              </a:rPr>
              <a:t>Crustacean PTI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PTIⱼ = Σᵢ TUᵢⱼ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42000" y="7045199"/>
            <a:ext cx="1440000" cy="792000"/>
          </a:xfrm>
          <a:prstGeom prst="roundRect">
            <a:avLst/>
          </a:prstGeom>
          <a:solidFill>
            <a:srgbClr val="B4D7FA"/>
          </a:solidFill>
          <a:ln w="13970">
            <a:solidFill>
              <a:srgbClr val="326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 dirty="0">
                <a:solidFill>
                  <a:srgbClr val="1446A0"/>
                </a:solidFill>
                <a:latin typeface="Calibri"/>
              </a:rPr>
              <a:t>Fish TU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000000"/>
                </a:solidFill>
                <a:latin typeface="Calibri"/>
              </a:rPr>
              <a:t>TUᵢⱼ = Cᵢⱼ / LC̃₅₀,ᵢ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000000"/>
                </a:solidFill>
                <a:latin typeface="Calibri"/>
              </a:rPr>
              <a:t>per compound, per station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42000" y="8179200"/>
            <a:ext cx="1440000" cy="468000"/>
          </a:xfrm>
          <a:prstGeom prst="roundRect">
            <a:avLst/>
          </a:prstGeom>
          <a:solidFill>
            <a:srgbClr val="B4D7FA"/>
          </a:solidFill>
          <a:ln w="13970">
            <a:solidFill>
              <a:srgbClr val="326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446A0"/>
                </a:solidFill>
                <a:latin typeface="Calibri"/>
              </a:rPr>
              <a:t>Fish PTI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PTIⱼ = Σᵢ TUᵢⱼ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04000" y="9077460"/>
            <a:ext cx="1512000" cy="684000"/>
          </a:xfrm>
          <a:prstGeom prst="roundRect">
            <a:avLst/>
          </a:prstGeom>
          <a:solidFill>
            <a:srgbClr val="FFE6E6"/>
          </a:solidFill>
          <a:ln w="13970">
            <a:solidFill>
              <a:srgbClr val="C8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82828"/>
                </a:solidFill>
                <a:latin typeface="Calibri"/>
              </a:rPr>
              <a:t>Interactive Plots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ggplot2 bar charts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Per-sample PTI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Per-pollutant TU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50000" y="9077460"/>
            <a:ext cx="1584000" cy="684000"/>
          </a:xfrm>
          <a:prstGeom prst="roundRect">
            <a:avLst/>
          </a:prstGeom>
          <a:solidFill>
            <a:srgbClr val="FFE6E6"/>
          </a:solidFill>
          <a:ln w="13970">
            <a:solidFill>
              <a:srgbClr val="C8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82828"/>
                </a:solidFill>
                <a:latin typeface="Calibri"/>
              </a:rPr>
              <a:t>DT Risk Tables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PTI ≥ 1.0: </a:t>
            </a:r>
            <a:r>
              <a:rPr sz="900" b="1" i="0">
                <a:solidFill>
                  <a:srgbClr val="C82828"/>
                </a:solidFill>
                <a:latin typeface="Calibri"/>
              </a:rPr>
              <a:t>Acute risk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PTI 0.1–1.0: </a:t>
            </a:r>
            <a:r>
              <a:rPr sz="900" b="1" i="0">
                <a:solidFill>
                  <a:srgbClr val="D28C00"/>
                </a:solidFill>
                <a:latin typeface="Calibri"/>
              </a:rPr>
              <a:t>Chronic risk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PTI &lt; 0.1: </a:t>
            </a:r>
            <a:r>
              <a:rPr sz="900" b="1" i="0">
                <a:solidFill>
                  <a:srgbClr val="289632"/>
                </a:solidFill>
                <a:latin typeface="Calibri"/>
              </a:rPr>
              <a:t>Low risk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96000" y="9077460"/>
            <a:ext cx="1655999" cy="684000"/>
          </a:xfrm>
          <a:prstGeom prst="roundRect">
            <a:avLst/>
          </a:prstGeom>
          <a:solidFill>
            <a:srgbClr val="FFE6E6"/>
          </a:solidFill>
          <a:ln w="13970">
            <a:solidFill>
              <a:srgbClr val="C8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" tIns="14400" rIns="21600" bIns="144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82828"/>
                </a:solidFill>
                <a:latin typeface="Calibri"/>
              </a:rPr>
              <a:t>Excel Export (.xlsx)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Legend / Original data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Algae / Crust. / Fish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CASRN Report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Calibri"/>
              </a:rPr>
              <a:t>Coverage Matrix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188000" y="2142719"/>
            <a:ext cx="0" cy="178201"/>
          </a:xfrm>
          <a:prstGeom prst="line">
            <a:avLst/>
          </a:prstGeom>
          <a:ln w="15240">
            <a:solidFill>
              <a:srgbClr val="5B82B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88000" y="2936520"/>
            <a:ext cx="0" cy="259200"/>
          </a:xfrm>
          <a:prstGeom prst="line">
            <a:avLst/>
          </a:prstGeom>
          <a:ln w="15240">
            <a:solidFill>
              <a:srgbClr val="5B82B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88000" y="3616920"/>
            <a:ext cx="0" cy="178200"/>
          </a:xfrm>
          <a:prstGeom prst="line">
            <a:avLst/>
          </a:prstGeom>
          <a:ln w="15240">
            <a:solidFill>
              <a:srgbClr val="5B82B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cxnSpLocks/>
            <a:stCxn id="18" idx="2"/>
            <a:endCxn id="19" idx="0"/>
          </p:cNvCxnSpPr>
          <p:nvPr/>
        </p:nvCxnSpPr>
        <p:spPr>
          <a:xfrm flipH="1">
            <a:off x="1187999" y="4684320"/>
            <a:ext cx="1" cy="160350"/>
          </a:xfrm>
          <a:prstGeom prst="line">
            <a:avLst/>
          </a:prstGeom>
          <a:ln w="15240">
            <a:solidFill>
              <a:srgbClr val="5B82B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cxnSpLocks/>
            <a:stCxn id="19" idx="2"/>
          </p:cNvCxnSpPr>
          <p:nvPr/>
        </p:nvCxnSpPr>
        <p:spPr>
          <a:xfrm>
            <a:off x="1187999" y="5276670"/>
            <a:ext cx="1" cy="187050"/>
          </a:xfrm>
          <a:prstGeom prst="line">
            <a:avLst/>
          </a:prstGeom>
          <a:ln w="15240">
            <a:solidFill>
              <a:srgbClr val="5B82B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>
            <a:cxnSpLocks/>
            <a:stCxn id="20" idx="4"/>
          </p:cNvCxnSpPr>
          <p:nvPr/>
        </p:nvCxnSpPr>
        <p:spPr>
          <a:xfrm flipV="1">
            <a:off x="1835999" y="5724000"/>
            <a:ext cx="1360800" cy="47520"/>
          </a:xfrm>
          <a:prstGeom prst="line">
            <a:avLst/>
          </a:prstGeom>
          <a:ln w="15240">
            <a:solidFill>
              <a:srgbClr val="8282A0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4622400" y="3488400"/>
            <a:ext cx="680400" cy="0"/>
          </a:xfrm>
          <a:prstGeom prst="line">
            <a:avLst/>
          </a:prstGeom>
          <a:ln w="15240">
            <a:solidFill>
              <a:srgbClr val="8282A0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42000" y="1884599"/>
            <a:ext cx="0" cy="194401"/>
          </a:xfrm>
          <a:prstGeom prst="line">
            <a:avLst/>
          </a:prstGeom>
          <a:ln w="15240">
            <a:solidFill>
              <a:srgbClr val="3CA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42000" y="2565000"/>
            <a:ext cx="0" cy="178199"/>
          </a:xfrm>
          <a:prstGeom prst="line">
            <a:avLst/>
          </a:prstGeom>
          <a:ln w="15240">
            <a:solidFill>
              <a:srgbClr val="3CA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513838" y="2534741"/>
            <a:ext cx="856325" cy="2308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900" dirty="0">
                <a:solidFill>
                  <a:srgbClr val="000000"/>
                </a:solidFill>
                <a:latin typeface="Calibri"/>
              </a:rPr>
              <a:t>col</a:t>
            </a:r>
            <a:r>
              <a:rPr lang="en-US" sz="900" dirty="0">
                <a:solidFill>
                  <a:srgbClr val="000000"/>
                </a:solidFill>
                <a:latin typeface="Calibri"/>
              </a:rPr>
              <a:t>umn</a:t>
            </a:r>
            <a:r>
              <a:rPr sz="900" dirty="0">
                <a:solidFill>
                  <a:srgbClr val="000000"/>
                </a:solidFill>
                <a:latin typeface="Calibri"/>
              </a:rPr>
              <a:t> layout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400" y="2321999"/>
            <a:ext cx="291600" cy="0"/>
          </a:xfrm>
          <a:prstGeom prst="line">
            <a:avLst/>
          </a:prstGeom>
          <a:ln w="15240">
            <a:solidFill>
              <a:srgbClr val="3CA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318232" y="2164067"/>
            <a:ext cx="505268" cy="3693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lang="en-US" sz="900" dirty="0">
                <a:solidFill>
                  <a:srgbClr val="000000"/>
                </a:solidFill>
                <a:latin typeface="Calibri"/>
              </a:rPr>
              <a:t>R</a:t>
            </a:r>
            <a:r>
              <a:rPr sz="900" dirty="0">
                <a:solidFill>
                  <a:srgbClr val="000000"/>
                </a:solidFill>
                <a:latin typeface="Calibri"/>
              </a:rPr>
              <a:t>ow</a:t>
            </a:r>
            <a:br>
              <a:rPr lang="en-US" sz="900" dirty="0">
                <a:solidFill>
                  <a:srgbClr val="000000"/>
                </a:solidFill>
                <a:latin typeface="Calibri"/>
              </a:rPr>
            </a:br>
            <a:r>
              <a:rPr sz="900" dirty="0">
                <a:solidFill>
                  <a:srgbClr val="000000"/>
                </a:solidFill>
                <a:latin typeface="Calibri"/>
              </a:rPr>
              <a:t> layout</a:t>
            </a:r>
          </a:p>
        </p:txBody>
      </p:sp>
      <p:cxnSp>
        <p:nvCxnSpPr>
          <p:cNvPr id="54" name="Connector 53"/>
          <p:cNvCxnSpPr/>
          <p:nvPr/>
        </p:nvCxnSpPr>
        <p:spPr>
          <a:xfrm flipH="1">
            <a:off x="4649269" y="2582668"/>
            <a:ext cx="745200" cy="388800"/>
          </a:xfrm>
          <a:prstGeom prst="line">
            <a:avLst/>
          </a:prstGeom>
          <a:ln w="15240">
            <a:solidFill>
              <a:srgbClr val="3CA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>
            <a:cxnSpLocks/>
            <a:endCxn id="25" idx="0"/>
          </p:cNvCxnSpPr>
          <p:nvPr/>
        </p:nvCxnSpPr>
        <p:spPr>
          <a:xfrm>
            <a:off x="3942000" y="3131999"/>
            <a:ext cx="0" cy="119202"/>
          </a:xfrm>
          <a:prstGeom prst="line">
            <a:avLst/>
          </a:prstGeom>
          <a:ln w="15240">
            <a:solidFill>
              <a:srgbClr val="3CA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>
            <a:cxnSpLocks/>
            <a:stCxn id="25" idx="2"/>
          </p:cNvCxnSpPr>
          <p:nvPr/>
        </p:nvCxnSpPr>
        <p:spPr>
          <a:xfrm>
            <a:off x="3942000" y="3827201"/>
            <a:ext cx="0" cy="130999"/>
          </a:xfrm>
          <a:prstGeom prst="line">
            <a:avLst/>
          </a:prstGeom>
          <a:ln w="15240">
            <a:solidFill>
              <a:srgbClr val="3CA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76729" y="4233858"/>
            <a:ext cx="252000" cy="0"/>
          </a:xfrm>
          <a:prstGeom prst="line">
            <a:avLst/>
          </a:prstGeom>
          <a:ln w="15240">
            <a:solidFill>
              <a:srgbClr val="3CA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645605" y="4791043"/>
            <a:ext cx="343364" cy="2308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900" dirty="0">
                <a:solidFill>
                  <a:srgbClr val="000000"/>
                </a:solidFill>
                <a:latin typeface="Calibri"/>
              </a:rPr>
              <a:t>Yes</a:t>
            </a:r>
          </a:p>
        </p:txBody>
      </p:sp>
      <p:cxnSp>
        <p:nvCxnSpPr>
          <p:cNvPr id="61" name="Connector 60"/>
          <p:cNvCxnSpPr>
            <a:cxnSpLocks/>
            <a:endCxn id="29" idx="0"/>
          </p:cNvCxnSpPr>
          <p:nvPr/>
        </p:nvCxnSpPr>
        <p:spPr>
          <a:xfrm>
            <a:off x="5432400" y="4433531"/>
            <a:ext cx="0" cy="216000"/>
          </a:xfrm>
          <a:prstGeom prst="line">
            <a:avLst/>
          </a:prstGeom>
          <a:ln w="15240">
            <a:solidFill>
              <a:srgbClr val="3CA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>
            <a:cxnSpLocks/>
          </p:cNvCxnSpPr>
          <p:nvPr/>
        </p:nvCxnSpPr>
        <p:spPr>
          <a:xfrm flipH="1">
            <a:off x="3932954" y="4505068"/>
            <a:ext cx="0" cy="814498"/>
          </a:xfrm>
          <a:prstGeom prst="line">
            <a:avLst/>
          </a:prstGeom>
          <a:ln w="15240">
            <a:solidFill>
              <a:srgbClr val="3CA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4301875" y="4919531"/>
            <a:ext cx="343364" cy="2308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900" dirty="0">
                <a:solidFill>
                  <a:srgbClr val="000000"/>
                </a:solidFill>
                <a:latin typeface="Calibri"/>
              </a:rPr>
              <a:t>Yes</a:t>
            </a:r>
          </a:p>
        </p:txBody>
      </p:sp>
      <p:cxnSp>
        <p:nvCxnSpPr>
          <p:cNvPr id="64" name="Connector 63"/>
          <p:cNvCxnSpPr>
            <a:cxnSpLocks/>
          </p:cNvCxnSpPr>
          <p:nvPr/>
        </p:nvCxnSpPr>
        <p:spPr>
          <a:xfrm>
            <a:off x="5429186" y="5174651"/>
            <a:ext cx="0" cy="171255"/>
          </a:xfrm>
          <a:prstGeom prst="line">
            <a:avLst/>
          </a:prstGeom>
          <a:ln w="15240">
            <a:solidFill>
              <a:srgbClr val="3CA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415606" y="5130995"/>
            <a:ext cx="319318" cy="2308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900" dirty="0">
                <a:solidFill>
                  <a:srgbClr val="000000"/>
                </a:solidFill>
                <a:latin typeface="Calibri"/>
              </a:rPr>
              <a:t>No</a:t>
            </a:r>
          </a:p>
        </p:txBody>
      </p:sp>
      <p:cxnSp>
        <p:nvCxnSpPr>
          <p:cNvPr id="66" name="Connector 65"/>
          <p:cNvCxnSpPr>
            <a:cxnSpLocks/>
          </p:cNvCxnSpPr>
          <p:nvPr/>
        </p:nvCxnSpPr>
        <p:spPr>
          <a:xfrm flipH="1">
            <a:off x="3984593" y="4919531"/>
            <a:ext cx="877872" cy="358069"/>
          </a:xfrm>
          <a:prstGeom prst="line">
            <a:avLst/>
          </a:prstGeom>
          <a:ln w="15240">
            <a:solidFill>
              <a:srgbClr val="3CA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>
            <a:cxnSpLocks/>
            <a:stCxn id="31" idx="1"/>
          </p:cNvCxnSpPr>
          <p:nvPr/>
        </p:nvCxnSpPr>
        <p:spPr>
          <a:xfrm flipH="1" flipV="1">
            <a:off x="4758426" y="5513052"/>
            <a:ext cx="216342" cy="0"/>
          </a:xfrm>
          <a:prstGeom prst="line">
            <a:avLst/>
          </a:prstGeom>
          <a:ln w="15240">
            <a:solidFill>
              <a:srgbClr val="3CA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>
            <a:cxnSpLocks/>
          </p:cNvCxnSpPr>
          <p:nvPr/>
        </p:nvCxnSpPr>
        <p:spPr>
          <a:xfrm flipH="1">
            <a:off x="2322000" y="6755400"/>
            <a:ext cx="1602100" cy="329400"/>
          </a:xfrm>
          <a:prstGeom prst="line">
            <a:avLst/>
          </a:prstGeom>
          <a:ln w="15240">
            <a:solidFill>
              <a:srgbClr val="3C9628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>
            <a:cxnSpLocks/>
          </p:cNvCxnSpPr>
          <p:nvPr/>
        </p:nvCxnSpPr>
        <p:spPr>
          <a:xfrm>
            <a:off x="3941999" y="6755400"/>
            <a:ext cx="1" cy="329400"/>
          </a:xfrm>
          <a:prstGeom prst="line">
            <a:avLst/>
          </a:prstGeom>
          <a:ln w="15240">
            <a:solidFill>
              <a:srgbClr val="D2781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>
            <a:cxnSpLocks/>
          </p:cNvCxnSpPr>
          <p:nvPr/>
        </p:nvCxnSpPr>
        <p:spPr>
          <a:xfrm>
            <a:off x="3959900" y="6755400"/>
            <a:ext cx="1602100" cy="329400"/>
          </a:xfrm>
          <a:prstGeom prst="line">
            <a:avLst/>
          </a:prstGeom>
          <a:ln w="15240">
            <a:solidFill>
              <a:srgbClr val="326EC8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322000" y="7797600"/>
            <a:ext cx="0" cy="405000"/>
          </a:xfrm>
          <a:prstGeom prst="line">
            <a:avLst/>
          </a:prstGeom>
          <a:ln w="15240">
            <a:solidFill>
              <a:srgbClr val="3C9628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942000" y="7797600"/>
            <a:ext cx="0" cy="405000"/>
          </a:xfrm>
          <a:prstGeom prst="line">
            <a:avLst/>
          </a:prstGeom>
          <a:ln w="15240">
            <a:solidFill>
              <a:srgbClr val="D2781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562000" y="7797600"/>
            <a:ext cx="0" cy="405000"/>
          </a:xfrm>
          <a:prstGeom prst="line">
            <a:avLst/>
          </a:prstGeom>
          <a:ln w="15240">
            <a:solidFill>
              <a:srgbClr val="326EC8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6821738" y="1163201"/>
            <a:ext cx="1602901" cy="208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 dirty="0">
                <a:solidFill>
                  <a:srgbClr val="000000"/>
                </a:solidFill>
                <a:latin typeface="Calibri"/>
              </a:rPr>
              <a:t>Equations: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000000"/>
                </a:solidFill>
                <a:latin typeface="Calibri"/>
              </a:rPr>
              <a:t>TUᵢⱼ  =  Cᵢⱼ  /  LC̃₅₀,ᵢ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000000"/>
                </a:solidFill>
                <a:latin typeface="Calibri"/>
              </a:rPr>
              <a:t>Cᵢⱼ = conc. of compound </a:t>
            </a:r>
            <a:r>
              <a:rPr sz="900" b="0" i="0" dirty="0" err="1">
                <a:solidFill>
                  <a:srgbClr val="000000"/>
                </a:solidFill>
                <a:latin typeface="Calibri"/>
              </a:rPr>
              <a:t>i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, sample j </a:t>
            </a:r>
            <a:br>
              <a:rPr lang="en-US" sz="900" b="0" i="0" dirty="0">
                <a:solidFill>
                  <a:srgbClr val="000000"/>
                </a:solidFill>
                <a:latin typeface="Calibri"/>
              </a:rPr>
            </a:br>
            <a:r>
              <a:rPr sz="900" b="0" i="0" dirty="0">
                <a:solidFill>
                  <a:srgbClr val="000000"/>
                </a:solidFill>
                <a:latin typeface="Calibri"/>
              </a:rPr>
              <a:t>LC̃₅₀,ᵢ = median(LC₅₀/EC₅₀)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000000"/>
                </a:solidFill>
                <a:latin typeface="Calibri"/>
              </a:rPr>
              <a:t>compound </a:t>
            </a:r>
            <a:r>
              <a:rPr sz="900" b="0" i="0" dirty="0" err="1">
                <a:solidFill>
                  <a:srgbClr val="000000"/>
                </a:solidFill>
                <a:latin typeface="Calibri"/>
              </a:rPr>
              <a:t>i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, per taxon</a:t>
            </a:r>
            <a:br>
              <a:rPr lang="en-US" sz="900" b="0" i="0" dirty="0">
                <a:solidFill>
                  <a:srgbClr val="000000"/>
                </a:solidFill>
                <a:latin typeface="Calibri"/>
              </a:rPr>
            </a:br>
            <a:endParaRPr sz="900" b="0" i="0" dirty="0">
              <a:solidFill>
                <a:srgbClr val="00000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000000"/>
                </a:solidFill>
                <a:latin typeface="Calibri"/>
              </a:rPr>
              <a:t>PTIⱼ  =  Σᵢ  TUᵢⱼ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endParaRPr sz="900" b="0" i="0" dirty="0">
              <a:solidFill>
                <a:srgbClr val="00000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 dirty="0">
                <a:solidFill>
                  <a:srgbClr val="000000"/>
                </a:solidFill>
                <a:latin typeface="Calibri"/>
              </a:rPr>
              <a:t>Risk thresholds: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C82828"/>
                </a:solidFill>
                <a:latin typeface="Calibri"/>
              </a:rPr>
              <a:t>• PTI ≥ 1.0: Acute risk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D28C00"/>
                </a:solidFill>
                <a:latin typeface="Calibri"/>
              </a:rPr>
              <a:t>• PTI 0.1–1.0: Chronic risk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289632"/>
                </a:solidFill>
                <a:latin typeface="Calibri"/>
              </a:rPr>
              <a:t>• PTI &lt; 0.1: Low risk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821738" y="3339686"/>
            <a:ext cx="1602901" cy="162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2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3200" tIns="28800" rIns="43200" bIns="28800" rtlCol="0" anchor="ctr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 dirty="0">
                <a:solidFill>
                  <a:srgbClr val="000000"/>
                </a:solidFill>
                <a:latin typeface="Calibri"/>
              </a:rPr>
              <a:t>Symbol</a:t>
            </a:r>
            <a:r>
              <a:rPr lang="en-US" sz="900" b="1" i="0" dirty="0">
                <a:solidFill>
                  <a:srgbClr val="000000"/>
                </a:solidFill>
                <a:latin typeface="Calibri"/>
              </a:rPr>
              <a:t>s</a:t>
            </a:r>
            <a:r>
              <a:rPr sz="900" b="1" i="0" dirty="0">
                <a:solidFill>
                  <a:srgbClr val="000000"/>
                </a:solidFill>
                <a:latin typeface="Calibri"/>
              </a:rPr>
              <a:t>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000000"/>
                </a:solidFill>
                <a:latin typeface="Calibri"/>
              </a:rPr>
              <a:t>Parallelogram: data input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000000"/>
                </a:solidFill>
                <a:latin typeface="Calibri"/>
              </a:rPr>
              <a:t>Rectangle: processing step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000000"/>
                </a:solidFill>
                <a:latin typeface="Calibri"/>
              </a:rPr>
              <a:t>Cylinder: database / file store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000000"/>
                </a:solidFill>
                <a:latin typeface="Calibri"/>
              </a:rPr>
              <a:t>Diamond: decision point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 dirty="0">
                <a:solidFill>
                  <a:srgbClr val="000000"/>
                </a:solidFill>
                <a:latin typeface="Calibri"/>
              </a:rPr>
              <a:t>Taxonomic </a:t>
            </a:r>
            <a:r>
              <a:rPr sz="900" b="1" i="0" dirty="0" err="1">
                <a:solidFill>
                  <a:srgbClr val="000000"/>
                </a:solidFill>
                <a:latin typeface="Calibri"/>
              </a:rPr>
              <a:t>colour</a:t>
            </a:r>
            <a:r>
              <a:rPr sz="900" b="1" i="0" dirty="0">
                <a:solidFill>
                  <a:srgbClr val="000000"/>
                </a:solidFill>
                <a:latin typeface="Calibri"/>
              </a:rPr>
              <a:t> coding: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1E6E14"/>
                </a:solidFill>
                <a:latin typeface="Calibri"/>
              </a:rPr>
              <a:t>■  Algae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A05000"/>
                </a:solidFill>
                <a:latin typeface="Calibri"/>
              </a:rPr>
              <a:t>■  Crustaceans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 dirty="0">
                <a:solidFill>
                  <a:srgbClr val="1446A0"/>
                </a:solidFill>
                <a:latin typeface="Calibri"/>
              </a:rPr>
              <a:t>■  Fish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84114" y="10494000"/>
            <a:ext cx="4831772" cy="2308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646464"/>
                </a:solidFill>
                <a:latin typeface="Calibri"/>
              </a:rPr>
              <a:t>Gridish N. &amp; Suari Y.  —  School of Marine Sciences, Ruppin Academic Center, Israel  —  MIT License</a:t>
            </a:r>
          </a:p>
        </p:txBody>
      </p:sp>
      <p:cxnSp>
        <p:nvCxnSpPr>
          <p:cNvPr id="104" name="Connector 61">
            <a:extLst>
              <a:ext uri="{FF2B5EF4-FFF2-40B4-BE49-F238E27FC236}">
                <a16:creationId xmlns:a16="http://schemas.microsoft.com/office/drawing/2014/main" id="{7ABAF910-08F9-42AB-BA24-C3C8309E9610}"/>
              </a:ext>
            </a:extLst>
          </p:cNvPr>
          <p:cNvCxnSpPr>
            <a:cxnSpLocks/>
          </p:cNvCxnSpPr>
          <p:nvPr/>
        </p:nvCxnSpPr>
        <p:spPr>
          <a:xfrm flipH="1">
            <a:off x="3820886" y="5767811"/>
            <a:ext cx="0" cy="482521"/>
          </a:xfrm>
          <a:prstGeom prst="line">
            <a:avLst/>
          </a:prstGeom>
          <a:ln w="1524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חץ: למטה 106">
            <a:extLst>
              <a:ext uri="{FF2B5EF4-FFF2-40B4-BE49-F238E27FC236}">
                <a16:creationId xmlns:a16="http://schemas.microsoft.com/office/drawing/2014/main" id="{5BA3FD5D-E54D-FA29-7D18-E293EA299979}"/>
              </a:ext>
            </a:extLst>
          </p:cNvPr>
          <p:cNvSpPr/>
          <p:nvPr/>
        </p:nvSpPr>
        <p:spPr>
          <a:xfrm>
            <a:off x="3820886" y="8786759"/>
            <a:ext cx="324394" cy="172500"/>
          </a:xfrm>
          <a:prstGeom prst="downArrow">
            <a:avLst/>
          </a:prstGeom>
          <a:gradFill>
            <a:gsLst>
              <a:gs pos="0">
                <a:schemeClr val="tx1">
                  <a:lumMod val="50000"/>
                  <a:lumOff val="50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1291</TotalTime>
  <Words>454</Words>
  <Application>Microsoft Office PowerPoint</Application>
  <PresentationFormat>מותאם אישית</PresentationFormat>
  <Paragraphs>102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Yair Suari</cp:lastModifiedBy>
  <cp:revision>5</cp:revision>
  <dcterms:created xsi:type="dcterms:W3CDTF">2013-01-27T09:14:16Z</dcterms:created>
  <dcterms:modified xsi:type="dcterms:W3CDTF">2026-03-21T20:20:27Z</dcterms:modified>
  <cp:category/>
</cp:coreProperties>
</file>